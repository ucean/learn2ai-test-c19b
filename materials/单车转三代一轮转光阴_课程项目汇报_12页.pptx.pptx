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Calibri (MS)" charset="1" panose="020F0502020204030204"/>
      <p:regular r:id="rId25"/>
    </p:embeddedFont>
    <p:embeddedFont>
      <p:font typeface="Arimo Bold" charset="1" panose="020B0704020202020204"/>
      <p:regular r:id="rId26"/>
    </p:embeddedFont>
    <p:embeddedFont>
      <p:font typeface="Arimo" charset="1" panose="020B06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1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9491748"/>
            <a:ext cx="18316137" cy="810444"/>
            <a:chOff x="0" y="0"/>
            <a:chExt cx="24421516" cy="1080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1464" cy="1080643"/>
            </a:xfrm>
            <a:custGeom>
              <a:avLst/>
              <a:gdLst/>
              <a:ahLst/>
              <a:cxnLst/>
              <a:rect r="r" b="b" t="t" l="l"/>
              <a:pathLst>
                <a:path h="1080643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080643"/>
                  </a:lnTo>
                  <a:lnTo>
                    <a:pt x="0" y="1080643"/>
                  </a:lnTo>
                  <a:close/>
                </a:path>
              </a:pathLst>
            </a:custGeom>
            <a:solidFill>
              <a:srgbClr val="2A2723"/>
            </a:solidFill>
            <a:ln w="14299" cap="sq">
              <a:solidFill>
                <a:srgbClr val="2A2723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87635" y="9643043"/>
            <a:ext cx="222339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5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媒介传播史沿革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47144" y="9652568"/>
            <a:ext cx="884922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61"/>
              </a:lnSpc>
            </a:pPr>
            <a:r>
              <a:rPr lang="en-US" sz="23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吴雨璇             谭皓月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8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1547" y="811435"/>
            <a:ext cx="16673455" cy="758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从一辆自行车，进入半个世纪的生活史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2723" y="1686858"/>
            <a:ext cx="16536181" cy="54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以“研究问题—史料证据—口述经验—影像表达”构成完整研究路径。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89003" y="2353847"/>
            <a:ext cx="1002621" cy="76067"/>
            <a:chOff x="0" y="0"/>
            <a:chExt cx="1336827" cy="1014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6802" cy="101473"/>
            </a:xfrm>
            <a:custGeom>
              <a:avLst/>
              <a:gdLst/>
              <a:ahLst/>
              <a:cxnLst/>
              <a:rect r="r" b="b" t="t" l="l"/>
              <a:pathLst>
                <a:path h="101473" w="1336802">
                  <a:moveTo>
                    <a:pt x="0" y="0"/>
                  </a:moveTo>
                  <a:lnTo>
                    <a:pt x="1336802" y="0"/>
                  </a:lnTo>
                  <a:lnTo>
                    <a:pt x="1336802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9D2B22"/>
            </a:solidFill>
            <a:ln w="14299" cap="sq">
              <a:solidFill>
                <a:srgbClr val="9D2B2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845955" y="2353847"/>
            <a:ext cx="15594130" cy="30766"/>
            <a:chOff x="0" y="0"/>
            <a:chExt cx="20792173" cy="410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92187" cy="41021"/>
            </a:xfrm>
            <a:custGeom>
              <a:avLst/>
              <a:gdLst/>
              <a:ahLst/>
              <a:cxnLst/>
              <a:rect r="r" b="b" t="t" l="l"/>
              <a:pathLst>
                <a:path h="41021" w="20792187">
                  <a:moveTo>
                    <a:pt x="0" y="0"/>
                  </a:moveTo>
                  <a:lnTo>
                    <a:pt x="20792187" y="0"/>
                  </a:lnTo>
                  <a:lnTo>
                    <a:pt x="20792187" y="41021"/>
                  </a:lnTo>
                  <a:lnTo>
                    <a:pt x="0" y="41021"/>
                  </a:lnTo>
                  <a:close/>
                </a:path>
              </a:pathLst>
            </a:custGeom>
            <a:solidFill>
              <a:srgbClr val="DED3C2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6989076" y="401879"/>
            <a:ext cx="503368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b="true" sz="1501" spc="29">
                <a:solidFill>
                  <a:srgbClr val="685E52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43905" y="2944092"/>
            <a:ext cx="3926415" cy="5161817"/>
            <a:chOff x="0" y="0"/>
            <a:chExt cx="5235219" cy="68824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35321" cy="6882511"/>
            </a:xfrm>
            <a:custGeom>
              <a:avLst/>
              <a:gdLst/>
              <a:ahLst/>
              <a:cxnLst/>
              <a:rect r="r" b="b" t="t" l="l"/>
              <a:pathLst>
                <a:path h="6882511" w="5235321">
                  <a:moveTo>
                    <a:pt x="0" y="628269"/>
                  </a:moveTo>
                  <a:cubicBezTo>
                    <a:pt x="0" y="281305"/>
                    <a:pt x="281305" y="0"/>
                    <a:pt x="628269" y="0"/>
                  </a:cubicBezTo>
                  <a:lnTo>
                    <a:pt x="4607052" y="0"/>
                  </a:lnTo>
                  <a:cubicBezTo>
                    <a:pt x="4954016" y="0"/>
                    <a:pt x="5235321" y="281305"/>
                    <a:pt x="5235321" y="628269"/>
                  </a:cubicBezTo>
                  <a:lnTo>
                    <a:pt x="5235321" y="6254242"/>
                  </a:lnTo>
                  <a:cubicBezTo>
                    <a:pt x="5235321" y="6601206"/>
                    <a:pt x="4954016" y="6882511"/>
                    <a:pt x="4607052" y="6882511"/>
                  </a:cubicBezTo>
                  <a:lnTo>
                    <a:pt x="628269" y="6882511"/>
                  </a:lnTo>
                  <a:cubicBezTo>
                    <a:pt x="281305" y="6882384"/>
                    <a:pt x="0" y="6601206"/>
                    <a:pt x="0" y="625424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189625" y="3292888"/>
            <a:ext cx="1024985" cy="62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b="true" sz="3752" spc="74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45896" y="4179503"/>
            <a:ext cx="837905" cy="69209"/>
            <a:chOff x="0" y="0"/>
            <a:chExt cx="1117206" cy="922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7219" cy="92329"/>
            </a:xfrm>
            <a:custGeom>
              <a:avLst/>
              <a:gdLst/>
              <a:ahLst/>
              <a:cxnLst/>
              <a:rect r="r" b="b" t="t" l="l"/>
              <a:pathLst>
                <a:path h="92329" w="1117219">
                  <a:moveTo>
                    <a:pt x="0" y="0"/>
                  </a:moveTo>
                  <a:lnTo>
                    <a:pt x="1117219" y="0"/>
                  </a:lnTo>
                  <a:lnTo>
                    <a:pt x="1117219" y="92329"/>
                  </a:lnTo>
                  <a:lnTo>
                    <a:pt x="0" y="92329"/>
                  </a:lnTo>
                  <a:close/>
                </a:path>
              </a:pathLst>
            </a:custGeom>
            <a:solidFill>
              <a:srgbClr val="9D2B22"/>
            </a:solidFill>
            <a:ln w="14299" cap="sq">
              <a:solidFill>
                <a:srgbClr val="9D2B22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189625" y="4472264"/>
            <a:ext cx="3289897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主题选取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9625" y="5479637"/>
            <a:ext cx="322126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为什么选择自行车？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从自行车广告看改革开放50年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181552" y="2944092"/>
            <a:ext cx="3926415" cy="5161817"/>
            <a:chOff x="0" y="0"/>
            <a:chExt cx="5235219" cy="68824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35321" cy="6882511"/>
            </a:xfrm>
            <a:custGeom>
              <a:avLst/>
              <a:gdLst/>
              <a:ahLst/>
              <a:cxnLst/>
              <a:rect r="r" b="b" t="t" l="l"/>
              <a:pathLst>
                <a:path h="6882511" w="5235321">
                  <a:moveTo>
                    <a:pt x="0" y="628269"/>
                  </a:moveTo>
                  <a:cubicBezTo>
                    <a:pt x="0" y="281305"/>
                    <a:pt x="281305" y="0"/>
                    <a:pt x="628269" y="0"/>
                  </a:cubicBezTo>
                  <a:lnTo>
                    <a:pt x="4607052" y="0"/>
                  </a:lnTo>
                  <a:cubicBezTo>
                    <a:pt x="4954016" y="0"/>
                    <a:pt x="5235321" y="281305"/>
                    <a:pt x="5235321" y="628269"/>
                  </a:cubicBezTo>
                  <a:lnTo>
                    <a:pt x="5235321" y="6254242"/>
                  </a:lnTo>
                  <a:cubicBezTo>
                    <a:pt x="5235321" y="6601206"/>
                    <a:pt x="4954016" y="6882511"/>
                    <a:pt x="4607052" y="6882511"/>
                  </a:cubicBezTo>
                  <a:lnTo>
                    <a:pt x="628269" y="6882511"/>
                  </a:lnTo>
                  <a:cubicBezTo>
                    <a:pt x="281305" y="6882384"/>
                    <a:pt x="0" y="6601206"/>
                    <a:pt x="0" y="625424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5527262" y="3292888"/>
            <a:ext cx="1024985" cy="62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b="true" sz="3752" spc="74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483542" y="4179503"/>
            <a:ext cx="837905" cy="69209"/>
            <a:chOff x="0" y="0"/>
            <a:chExt cx="1117206" cy="922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17219" cy="92329"/>
            </a:xfrm>
            <a:custGeom>
              <a:avLst/>
              <a:gdLst/>
              <a:ahLst/>
              <a:cxnLst/>
              <a:rect r="r" b="b" t="t" l="l"/>
              <a:pathLst>
                <a:path h="92329" w="1117219">
                  <a:moveTo>
                    <a:pt x="0" y="0"/>
                  </a:moveTo>
                  <a:lnTo>
                    <a:pt x="1117219" y="0"/>
                  </a:lnTo>
                  <a:lnTo>
                    <a:pt x="1117219" y="92329"/>
                  </a:lnTo>
                  <a:lnTo>
                    <a:pt x="0" y="92329"/>
                  </a:lnTo>
                  <a:close/>
                </a:path>
              </a:pathLst>
            </a:custGeom>
            <a:solidFill>
              <a:srgbClr val="9D2B22"/>
            </a:solidFill>
            <a:ln w="14299" cap="sq">
              <a:solidFill>
                <a:srgbClr val="9D2B22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5527262" y="4472264"/>
            <a:ext cx="3289897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史料分析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527262" y="5479637"/>
            <a:ext cx="322126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报重建 1978—2026 年间自行车与人民生活的变迁线索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519199" y="2944092"/>
            <a:ext cx="3926415" cy="5161817"/>
            <a:chOff x="0" y="0"/>
            <a:chExt cx="5235219" cy="688242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35321" cy="6882511"/>
            </a:xfrm>
            <a:custGeom>
              <a:avLst/>
              <a:gdLst/>
              <a:ahLst/>
              <a:cxnLst/>
              <a:rect r="r" b="b" t="t" l="l"/>
              <a:pathLst>
                <a:path h="6882511" w="5235321">
                  <a:moveTo>
                    <a:pt x="0" y="628269"/>
                  </a:moveTo>
                  <a:cubicBezTo>
                    <a:pt x="0" y="281305"/>
                    <a:pt x="281305" y="0"/>
                    <a:pt x="628269" y="0"/>
                  </a:cubicBezTo>
                  <a:lnTo>
                    <a:pt x="4607052" y="0"/>
                  </a:lnTo>
                  <a:cubicBezTo>
                    <a:pt x="4954016" y="0"/>
                    <a:pt x="5235321" y="281305"/>
                    <a:pt x="5235321" y="628269"/>
                  </a:cubicBezTo>
                  <a:lnTo>
                    <a:pt x="5235321" y="6254242"/>
                  </a:lnTo>
                  <a:cubicBezTo>
                    <a:pt x="5235321" y="6601206"/>
                    <a:pt x="4954016" y="6882511"/>
                    <a:pt x="4607052" y="6882511"/>
                  </a:cubicBezTo>
                  <a:lnTo>
                    <a:pt x="628269" y="6882511"/>
                  </a:lnTo>
                  <a:cubicBezTo>
                    <a:pt x="281305" y="6882384"/>
                    <a:pt x="0" y="6601206"/>
                    <a:pt x="0" y="625424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864909" y="3292888"/>
            <a:ext cx="1024985" cy="62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b="true" sz="3752" spc="74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821189" y="4179503"/>
            <a:ext cx="837905" cy="69209"/>
            <a:chOff x="0" y="0"/>
            <a:chExt cx="1117206" cy="922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17219" cy="92329"/>
            </a:xfrm>
            <a:custGeom>
              <a:avLst/>
              <a:gdLst/>
              <a:ahLst/>
              <a:cxnLst/>
              <a:rect r="r" b="b" t="t" l="l"/>
              <a:pathLst>
                <a:path h="92329" w="1117219">
                  <a:moveTo>
                    <a:pt x="0" y="0"/>
                  </a:moveTo>
                  <a:lnTo>
                    <a:pt x="1117219" y="0"/>
                  </a:lnTo>
                  <a:lnTo>
                    <a:pt x="1117219" y="92329"/>
                  </a:lnTo>
                  <a:lnTo>
                    <a:pt x="0" y="92329"/>
                  </a:lnTo>
                  <a:close/>
                </a:path>
              </a:pathLst>
            </a:custGeom>
            <a:solidFill>
              <a:srgbClr val="9D2B22"/>
            </a:solidFill>
            <a:ln w="14299" cap="sq">
              <a:solidFill>
                <a:srgbClr val="9D2B22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9864909" y="4472264"/>
            <a:ext cx="3289897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深度访谈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64909" y="5479637"/>
            <a:ext cx="322126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从代际记忆中辨认宏观叙事与真实生活的距离。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856846" y="2944092"/>
            <a:ext cx="3926415" cy="5161817"/>
            <a:chOff x="0" y="0"/>
            <a:chExt cx="5235219" cy="688242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35321" cy="6882511"/>
            </a:xfrm>
            <a:custGeom>
              <a:avLst/>
              <a:gdLst/>
              <a:ahLst/>
              <a:cxnLst/>
              <a:rect r="r" b="b" t="t" l="l"/>
              <a:pathLst>
                <a:path h="6882511" w="5235321">
                  <a:moveTo>
                    <a:pt x="0" y="628269"/>
                  </a:moveTo>
                  <a:cubicBezTo>
                    <a:pt x="0" y="281305"/>
                    <a:pt x="281305" y="0"/>
                    <a:pt x="628269" y="0"/>
                  </a:cubicBezTo>
                  <a:lnTo>
                    <a:pt x="4607052" y="0"/>
                  </a:lnTo>
                  <a:cubicBezTo>
                    <a:pt x="4954016" y="0"/>
                    <a:pt x="5235321" y="281305"/>
                    <a:pt x="5235321" y="628269"/>
                  </a:cubicBezTo>
                  <a:lnTo>
                    <a:pt x="5235321" y="6254242"/>
                  </a:lnTo>
                  <a:cubicBezTo>
                    <a:pt x="5235321" y="6601206"/>
                    <a:pt x="4954016" y="6882511"/>
                    <a:pt x="4607052" y="6882511"/>
                  </a:cubicBezTo>
                  <a:lnTo>
                    <a:pt x="628269" y="6882511"/>
                  </a:lnTo>
                  <a:cubicBezTo>
                    <a:pt x="281305" y="6882384"/>
                    <a:pt x="0" y="6601206"/>
                    <a:pt x="0" y="625424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4202556" y="3292888"/>
            <a:ext cx="1024985" cy="62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b="true" sz="3752" spc="74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4158827" y="4179503"/>
            <a:ext cx="837905" cy="69209"/>
            <a:chOff x="0" y="0"/>
            <a:chExt cx="1117206" cy="9227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17219" cy="92329"/>
            </a:xfrm>
            <a:custGeom>
              <a:avLst/>
              <a:gdLst/>
              <a:ahLst/>
              <a:cxnLst/>
              <a:rect r="r" b="b" t="t" l="l"/>
              <a:pathLst>
                <a:path h="92329" w="1117219">
                  <a:moveTo>
                    <a:pt x="0" y="0"/>
                  </a:moveTo>
                  <a:lnTo>
                    <a:pt x="1117219" y="0"/>
                  </a:lnTo>
                  <a:lnTo>
                    <a:pt x="1117219" y="92329"/>
                  </a:lnTo>
                  <a:lnTo>
                    <a:pt x="0" y="92329"/>
                  </a:lnTo>
                  <a:close/>
                </a:path>
              </a:pathLst>
            </a:custGeom>
            <a:solidFill>
              <a:srgbClr val="9D2B22"/>
            </a:solidFill>
            <a:ln w="14299" cap="sq">
              <a:solidFill>
                <a:srgbClr val="9D2B22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4202556" y="4510364"/>
            <a:ext cx="328989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b="true" sz="3300" spc="65">
                <a:solidFill>
                  <a:srgbClr val="2A2723"/>
                </a:solidFill>
                <a:latin typeface="Arimo Bold"/>
                <a:ea typeface="Arimo Bold"/>
                <a:cs typeface="Arimo Bold"/>
                <a:sym typeface="Arimo Bold"/>
              </a:rPr>
              <a:t>AI漫剧创作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202556" y="5479637"/>
            <a:ext cx="322126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把史料转化为漫剧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7448" y="8549107"/>
            <a:ext cx="198168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9D2B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研究主线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441217" y="8549107"/>
            <a:ext cx="976133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一件商品的变化  →  一种媒介的变化  →  一代人的生活变化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9003" y="2353847"/>
            <a:ext cx="1002621" cy="76067"/>
            <a:chOff x="0" y="0"/>
            <a:chExt cx="1336827" cy="101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802" cy="101473"/>
            </a:xfrm>
            <a:custGeom>
              <a:avLst/>
              <a:gdLst/>
              <a:ahLst/>
              <a:cxnLst/>
              <a:rect r="r" b="b" t="t" l="l"/>
              <a:pathLst>
                <a:path h="101473" w="1336802">
                  <a:moveTo>
                    <a:pt x="0" y="0"/>
                  </a:moveTo>
                  <a:lnTo>
                    <a:pt x="1336802" y="0"/>
                  </a:lnTo>
                  <a:lnTo>
                    <a:pt x="1336802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9D2B22"/>
            </a:solidFill>
            <a:ln w="14299" cap="sq">
              <a:solidFill>
                <a:srgbClr val="9D2B2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45955" y="2353847"/>
            <a:ext cx="15594130" cy="30766"/>
            <a:chOff x="0" y="0"/>
            <a:chExt cx="20792173" cy="410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92187" cy="41021"/>
            </a:xfrm>
            <a:custGeom>
              <a:avLst/>
              <a:gdLst/>
              <a:ahLst/>
              <a:cxnLst/>
              <a:rect r="r" b="b" t="t" l="l"/>
              <a:pathLst>
                <a:path h="41021" w="20792187">
                  <a:moveTo>
                    <a:pt x="0" y="0"/>
                  </a:moveTo>
                  <a:lnTo>
                    <a:pt x="20792187" y="0"/>
                  </a:lnTo>
                  <a:lnTo>
                    <a:pt x="20792187" y="41021"/>
                  </a:lnTo>
                  <a:lnTo>
                    <a:pt x="0" y="41021"/>
                  </a:lnTo>
                  <a:close/>
                </a:path>
              </a:pathLst>
            </a:custGeom>
            <a:solidFill>
              <a:srgbClr val="DED3C2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81170" y="5373729"/>
            <a:ext cx="8593503" cy="41748"/>
            <a:chOff x="0" y="0"/>
            <a:chExt cx="11458004" cy="556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57940" cy="55626"/>
            </a:xfrm>
            <a:custGeom>
              <a:avLst/>
              <a:gdLst/>
              <a:ahLst/>
              <a:cxnLst/>
              <a:rect r="r" b="b" t="t" l="l"/>
              <a:pathLst>
                <a:path h="55626" w="11457940">
                  <a:moveTo>
                    <a:pt x="0" y="0"/>
                  </a:moveTo>
                  <a:lnTo>
                    <a:pt x="11457940" y="0"/>
                  </a:lnTo>
                  <a:lnTo>
                    <a:pt x="11457940" y="55626"/>
                  </a:lnTo>
                  <a:lnTo>
                    <a:pt x="0" y="55626"/>
                  </a:lnTo>
                  <a:close/>
                </a:path>
              </a:pathLst>
            </a:custGeom>
            <a:solidFill>
              <a:srgbClr val="DED3C2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81170" y="8752237"/>
            <a:ext cx="9407357" cy="1194963"/>
            <a:chOff x="0" y="0"/>
            <a:chExt cx="8755529" cy="11121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55480" cy="1112087"/>
            </a:xfrm>
            <a:custGeom>
              <a:avLst/>
              <a:gdLst/>
              <a:ahLst/>
              <a:cxnLst/>
              <a:rect r="r" b="b" t="t" l="l"/>
              <a:pathLst>
                <a:path h="1112087" w="8755480">
                  <a:moveTo>
                    <a:pt x="0" y="133444"/>
                  </a:moveTo>
                  <a:cubicBezTo>
                    <a:pt x="0" y="59798"/>
                    <a:pt x="36877" y="0"/>
                    <a:pt x="82295" y="0"/>
                  </a:cubicBezTo>
                  <a:lnTo>
                    <a:pt x="8673185" y="0"/>
                  </a:lnTo>
                  <a:cubicBezTo>
                    <a:pt x="8718603" y="0"/>
                    <a:pt x="8755480" y="59798"/>
                    <a:pt x="8755480" y="133444"/>
                  </a:cubicBezTo>
                  <a:lnTo>
                    <a:pt x="8755480" y="978642"/>
                  </a:lnTo>
                  <a:cubicBezTo>
                    <a:pt x="8755480" y="1052288"/>
                    <a:pt x="8718603" y="1112087"/>
                    <a:pt x="8673185" y="1112087"/>
                  </a:cubicBezTo>
                  <a:lnTo>
                    <a:pt x="82295" y="1112087"/>
                  </a:lnTo>
                  <a:cubicBezTo>
                    <a:pt x="36877" y="1112229"/>
                    <a:pt x="0" y="1052446"/>
                    <a:pt x="0" y="978642"/>
                  </a:cubicBezTo>
                  <a:close/>
                </a:path>
              </a:pathLst>
            </a:custGeom>
            <a:solidFill>
              <a:srgbClr val="F0E5D3"/>
            </a:solidFill>
            <a:ln w="14299" cap="sq">
              <a:solidFill>
                <a:srgbClr val="F0E5D3"/>
              </a:solidFill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1474695" y="2569803"/>
            <a:ext cx="5784605" cy="7228179"/>
          </a:xfrm>
          <a:custGeom>
            <a:avLst/>
            <a:gdLst/>
            <a:ahLst/>
            <a:cxnLst/>
            <a:rect r="r" b="b" t="t" l="l"/>
            <a:pathLst>
              <a:path h="7228179" w="5784605">
                <a:moveTo>
                  <a:pt x="0" y="0"/>
                </a:moveTo>
                <a:lnTo>
                  <a:pt x="5784605" y="0"/>
                </a:lnTo>
                <a:lnTo>
                  <a:pt x="5784605" y="7228179"/>
                </a:lnTo>
                <a:lnTo>
                  <a:pt x="0" y="7228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91547" y="411404"/>
            <a:ext cx="610387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39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PART 01 · 主题选取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1547" y="811435"/>
            <a:ext cx="16673455" cy="758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为什么选择自行车？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2723" y="1686858"/>
            <a:ext cx="16536181" cy="54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一件日常物品，如何连接商品、广告与家庭生活的变化？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89076" y="401879"/>
            <a:ext cx="503368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b="true" sz="1501" spc="29">
                <a:solidFill>
                  <a:srgbClr val="685E52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4900" y="2870444"/>
            <a:ext cx="2672191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2"/>
              </a:lnSpc>
            </a:pPr>
            <a:r>
              <a:rPr lang="en-US" sz="3501" b="true">
                <a:solidFill>
                  <a:srgbClr val="9D2B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研究缘起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4895" y="3725904"/>
            <a:ext cx="8506054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1">
                <a:solidFill>
                  <a:srgbClr val="2A2723"/>
                </a:solidFill>
                <a:latin typeface="Calibri (MS)"/>
                <a:ea typeface="Calibri (MS)"/>
                <a:cs typeface="Calibri (MS)"/>
                <a:sym typeface="Calibri (MS)"/>
              </a:rPr>
              <a:t>自行车并不只是交通工具。它曾是稀缺的耐用消费品，也曾是家庭成家与日常照料的重要物件；今天，它又与共享出行、即时配送和专业骑行并存。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6076" y="5757210"/>
            <a:ext cx="582619" cy="42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b="true" sz="2676" spc="53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73820" y="5689740"/>
            <a:ext cx="1522731" cy="505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997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商品变迁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81003" y="5689740"/>
            <a:ext cx="5869664" cy="46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2676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从“拥有一辆很了不起”到“扫码就能骑”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6076" y="6814629"/>
            <a:ext cx="582619" cy="42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b="true" sz="2676" spc="53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73820" y="6747149"/>
            <a:ext cx="1522731" cy="505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997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广告变迁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81003" y="6747149"/>
            <a:ext cx="6138855" cy="46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2676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从报刊与橱窗，到电视、门店与移动平台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6076" y="7872038"/>
            <a:ext cx="582619" cy="42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b="true" sz="2676" spc="53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73820" y="7804558"/>
            <a:ext cx="1522731" cy="505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997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生活变迁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81003" y="7718772"/>
            <a:ext cx="6241660" cy="46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2676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从全家共用，到按年龄、用途与兴趣分化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4527" y="8891149"/>
            <a:ext cx="91440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9D2B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核心问题：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9D2B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车的变化，如何折射消费观念、媒介环境与家庭生活？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3" y="-7153"/>
            <a:ext cx="18316137" cy="10309346"/>
            <a:chOff x="0" y="0"/>
            <a:chExt cx="24421516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146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F8F3E9"/>
            </a:solidFill>
            <a:ln w="14299" cap="sq">
              <a:solidFill>
                <a:srgbClr val="F8F3E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500941" y="1029500"/>
            <a:ext cx="2951245" cy="2196274"/>
            <a:chOff x="0" y="0"/>
            <a:chExt cx="3934993" cy="2928366"/>
          </a:xfrm>
        </p:grpSpPr>
        <p:sp>
          <p:nvSpPr>
            <p:cNvPr name="Freeform 5" id="5" descr="image1.jpg"/>
            <p:cNvSpPr/>
            <p:nvPr/>
          </p:nvSpPr>
          <p:spPr>
            <a:xfrm flipH="false" flipV="false" rot="0">
              <a:off x="0" y="0"/>
              <a:ext cx="3934968" cy="2928366"/>
            </a:xfrm>
            <a:custGeom>
              <a:avLst/>
              <a:gdLst/>
              <a:ahLst/>
              <a:cxnLst/>
              <a:rect r="r" b="b" t="t" l="l"/>
              <a:pathLst>
                <a:path h="2928366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2928366"/>
                  </a:lnTo>
                  <a:lnTo>
                    <a:pt x="0" y="2928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589" t="0" r="-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658088" y="1029500"/>
            <a:ext cx="2951245" cy="2196274"/>
            <a:chOff x="0" y="0"/>
            <a:chExt cx="3934993" cy="2928366"/>
          </a:xfrm>
        </p:grpSpPr>
        <p:sp>
          <p:nvSpPr>
            <p:cNvPr name="Freeform 7" id="7" descr="image4.jpg"/>
            <p:cNvSpPr/>
            <p:nvPr/>
          </p:nvSpPr>
          <p:spPr>
            <a:xfrm flipH="false" flipV="false" rot="0">
              <a:off x="0" y="0"/>
              <a:ext cx="3934968" cy="2928366"/>
            </a:xfrm>
            <a:custGeom>
              <a:avLst/>
              <a:gdLst/>
              <a:ahLst/>
              <a:cxnLst/>
              <a:rect r="r" b="b" t="t" l="l"/>
              <a:pathLst>
                <a:path h="2928366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2928366"/>
                  </a:lnTo>
                  <a:lnTo>
                    <a:pt x="0" y="2928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796" t="0" r="-579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500941" y="3431677"/>
            <a:ext cx="6108392" cy="3706216"/>
            <a:chOff x="0" y="0"/>
            <a:chExt cx="8144523" cy="4941621"/>
          </a:xfrm>
        </p:grpSpPr>
        <p:sp>
          <p:nvSpPr>
            <p:cNvPr name="Freeform 9" id="9" descr="image9.jpg"/>
            <p:cNvSpPr/>
            <p:nvPr/>
          </p:nvSpPr>
          <p:spPr>
            <a:xfrm flipH="false" flipV="false" rot="0">
              <a:off x="0" y="0"/>
              <a:ext cx="8144510" cy="4941570"/>
            </a:xfrm>
            <a:custGeom>
              <a:avLst/>
              <a:gdLst/>
              <a:ahLst/>
              <a:cxnLst/>
              <a:rect r="r" b="b" t="t" l="l"/>
              <a:pathLst>
                <a:path h="4941570" w="8144510">
                  <a:moveTo>
                    <a:pt x="0" y="0"/>
                  </a:moveTo>
                  <a:lnTo>
                    <a:pt x="8144510" y="0"/>
                  </a:lnTo>
                  <a:lnTo>
                    <a:pt x="8144510" y="4941570"/>
                  </a:lnTo>
                  <a:lnTo>
                    <a:pt x="0" y="4941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806" r="-1" b="-1180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4900" y="986800"/>
            <a:ext cx="6103877" cy="32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9D2B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媒介史课程 · 研究方法专题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4900" y="1803959"/>
            <a:ext cx="3358525" cy="100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9D2B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史料分析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4900" y="2911621"/>
            <a:ext cx="7476544" cy="82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3452" b="true">
                <a:solidFill>
                  <a:srgbClr val="2623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以二手资料调查法为主的研究路径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1170" y="4083415"/>
            <a:ext cx="1386973" cy="82934"/>
            <a:chOff x="0" y="0"/>
            <a:chExt cx="1849298" cy="1105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49247" cy="110617"/>
            </a:xfrm>
            <a:custGeom>
              <a:avLst/>
              <a:gdLst/>
              <a:ahLst/>
              <a:cxnLst/>
              <a:rect r="r" b="b" t="t" l="l"/>
              <a:pathLst>
                <a:path h="110617" w="1849247">
                  <a:moveTo>
                    <a:pt x="0" y="0"/>
                  </a:moveTo>
                  <a:lnTo>
                    <a:pt x="1849247" y="0"/>
                  </a:lnTo>
                  <a:lnTo>
                    <a:pt x="1849247" y="110617"/>
                  </a:lnTo>
                  <a:lnTo>
                    <a:pt x="0" y="110617"/>
                  </a:lnTo>
                  <a:close/>
                </a:path>
              </a:pathLst>
            </a:custGeom>
            <a:solidFill>
              <a:srgbClr val="9D2B22"/>
            </a:solidFill>
            <a:ln w="14299" cap="sq">
              <a:solidFill>
                <a:srgbClr val="9D2B22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4578428"/>
            <a:ext cx="8891121" cy="1345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1"/>
              </a:lnSpc>
            </a:pPr>
            <a:r>
              <a:rPr lang="en-US" sz="2876">
                <a:solidFill>
                  <a:srgbClr val="26231F"/>
                </a:solidFill>
                <a:latin typeface="Calibri (MS)"/>
                <a:ea typeface="Calibri (MS)"/>
                <a:cs typeface="Calibri (MS)"/>
                <a:sym typeface="Calibri (MS)"/>
              </a:rPr>
              <a:t>核心目标：</a:t>
            </a:r>
          </a:p>
          <a:p>
            <a:pPr algn="l">
              <a:lnSpc>
                <a:spcPts val="3451"/>
              </a:lnSpc>
            </a:pPr>
            <a:r>
              <a:rPr lang="en-US" sz="2876">
                <a:solidFill>
                  <a:srgbClr val="26231F"/>
                </a:solidFill>
                <a:latin typeface="Calibri (MS)"/>
                <a:ea typeface="Calibri (MS)"/>
                <a:cs typeface="Calibri (MS)"/>
                <a:sym typeface="Calibri (MS)"/>
              </a:rPr>
              <a:t>通过报刊、政策、品牌资料、街景影像与实物图像，</a:t>
            </a:r>
          </a:p>
          <a:p>
            <a:pPr algn="l">
              <a:lnSpc>
                <a:spcPts val="3451"/>
              </a:lnSpc>
            </a:pPr>
            <a:r>
              <a:rPr lang="en-US" sz="2876">
                <a:solidFill>
                  <a:srgbClr val="26231F"/>
                </a:solidFill>
                <a:latin typeface="Calibri (MS)"/>
                <a:ea typeface="Calibri (MS)"/>
                <a:cs typeface="Calibri (MS)"/>
                <a:sym typeface="Calibri (MS)"/>
              </a:rPr>
              <a:t>重建 1978—2026 年间自行车与人民生活的变迁线索。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1170" y="6513043"/>
            <a:ext cx="9103938" cy="1772424"/>
            <a:chOff x="0" y="0"/>
            <a:chExt cx="10908932" cy="21238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08919" cy="2123948"/>
            </a:xfrm>
            <a:custGeom>
              <a:avLst/>
              <a:gdLst/>
              <a:ahLst/>
              <a:cxnLst/>
              <a:rect r="r" b="b" t="t" l="l"/>
              <a:pathLst>
                <a:path h="2123948" w="10908919">
                  <a:moveTo>
                    <a:pt x="0" y="254889"/>
                  </a:moveTo>
                  <a:cubicBezTo>
                    <a:pt x="0" y="114046"/>
                    <a:pt x="114046" y="0"/>
                    <a:pt x="254889" y="0"/>
                  </a:cubicBezTo>
                  <a:lnTo>
                    <a:pt x="10654030" y="0"/>
                  </a:lnTo>
                  <a:cubicBezTo>
                    <a:pt x="10794747" y="0"/>
                    <a:pt x="10908919" y="114046"/>
                    <a:pt x="10908919" y="254889"/>
                  </a:cubicBezTo>
                  <a:lnTo>
                    <a:pt x="10908919" y="1869059"/>
                  </a:lnTo>
                  <a:cubicBezTo>
                    <a:pt x="10908919" y="2009775"/>
                    <a:pt x="10794874" y="2123948"/>
                    <a:pt x="10654030" y="2123948"/>
                  </a:cubicBezTo>
                  <a:lnTo>
                    <a:pt x="254889" y="2123948"/>
                  </a:lnTo>
                  <a:cubicBezTo>
                    <a:pt x="114046" y="2123821"/>
                    <a:pt x="0" y="2009775"/>
                    <a:pt x="0" y="186893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0D5C4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51359" y="7186813"/>
            <a:ext cx="168374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1"/>
              </a:lnSpc>
            </a:pPr>
            <a:r>
              <a:rPr lang="en-US" sz="2651" b="true">
                <a:solidFill>
                  <a:srgbClr val="9D2B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本专题重点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52940" y="6862963"/>
            <a:ext cx="5897975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1" spc="50">
                <a:solidFill>
                  <a:srgbClr val="26231F"/>
                </a:solidFill>
                <a:latin typeface="Arimo"/>
                <a:ea typeface="Arimo"/>
                <a:cs typeface="Arimo"/>
                <a:sym typeface="Arimo"/>
              </a:rPr>
              <a:t>1.说明为什么采用二手资料调查法</a:t>
            </a:r>
          </a:p>
          <a:p>
            <a:pPr algn="l">
              <a:lnSpc>
                <a:spcPts val="3061"/>
              </a:lnSpc>
            </a:pPr>
            <a:r>
              <a:rPr lang="en-US" sz="2551" spc="50">
                <a:solidFill>
                  <a:srgbClr val="26231F"/>
                </a:solidFill>
                <a:latin typeface="Arimo"/>
                <a:ea typeface="Arimo"/>
                <a:cs typeface="Arimo"/>
                <a:sym typeface="Arimo"/>
              </a:rPr>
              <a:t>2.展示主要史料来源及图片来源标注</a:t>
            </a:r>
          </a:p>
          <a:p>
            <a:pPr algn="l">
              <a:lnSpc>
                <a:spcPts val="3061"/>
              </a:lnSpc>
            </a:pPr>
            <a:r>
              <a:rPr lang="en-US" sz="2551" spc="50">
                <a:solidFill>
                  <a:srgbClr val="26231F"/>
                </a:solidFill>
                <a:latin typeface="Arimo"/>
                <a:ea typeface="Arimo"/>
                <a:cs typeface="Arimo"/>
                <a:sym typeface="Arimo"/>
              </a:rPr>
              <a:t>3.总结史料分析如何支撑研究的专业性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-7153" y="9574101"/>
            <a:ext cx="18316137" cy="728091"/>
            <a:chOff x="0" y="0"/>
            <a:chExt cx="24421516" cy="9707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1464" cy="970788"/>
            </a:xfrm>
            <a:custGeom>
              <a:avLst/>
              <a:gdLst/>
              <a:ahLst/>
              <a:cxnLst/>
              <a:rect r="r" b="b" t="t" l="l"/>
              <a:pathLst>
                <a:path h="970788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26231F"/>
            </a:solidFill>
            <a:ln w="14299" cap="sq">
              <a:solidFill>
                <a:srgbClr val="26231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1547" y="401879"/>
            <a:ext cx="4319397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29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PART 01 · 研究方法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91547" y="756523"/>
            <a:ext cx="14751710" cy="74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623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为什么采用二手资料调查法？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8998" y="1627756"/>
            <a:ext cx="16467553" cy="422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95F52"/>
                </a:solidFill>
                <a:latin typeface="Calibri (MS)"/>
                <a:ea typeface="Calibri (MS)"/>
                <a:cs typeface="Calibri (MS)"/>
                <a:sym typeface="Calibri (MS)"/>
              </a:rPr>
              <a:t>本研究以二手资料为主，原因不是“省事”，而是研究对象本身具有长时段、跨媒介、跨生活场景的特点。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89003" y="2271484"/>
            <a:ext cx="1043807" cy="76067"/>
            <a:chOff x="0" y="0"/>
            <a:chExt cx="1391742" cy="1014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91793" cy="101473"/>
            </a:xfrm>
            <a:custGeom>
              <a:avLst/>
              <a:gdLst/>
              <a:ahLst/>
              <a:cxnLst/>
              <a:rect r="r" b="b" t="t" l="l"/>
              <a:pathLst>
                <a:path h="101473" w="1391793">
                  <a:moveTo>
                    <a:pt x="0" y="0"/>
                  </a:moveTo>
                  <a:lnTo>
                    <a:pt x="1391793" y="0"/>
                  </a:lnTo>
                  <a:lnTo>
                    <a:pt x="1391793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9D2B22"/>
            </a:solidFill>
            <a:ln w="14299" cap="sq">
              <a:solidFill>
                <a:srgbClr val="9D2B22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887141" y="2292077"/>
            <a:ext cx="15498042" cy="30766"/>
            <a:chOff x="0" y="0"/>
            <a:chExt cx="20664056" cy="410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64043" cy="41021"/>
            </a:xfrm>
            <a:custGeom>
              <a:avLst/>
              <a:gdLst/>
              <a:ahLst/>
              <a:cxnLst/>
              <a:rect r="r" b="b" t="t" l="l"/>
              <a:pathLst>
                <a:path h="41021" w="20664043">
                  <a:moveTo>
                    <a:pt x="0" y="0"/>
                  </a:moveTo>
                  <a:lnTo>
                    <a:pt x="20664043" y="0"/>
                  </a:lnTo>
                  <a:lnTo>
                    <a:pt x="20664043" y="41021"/>
                  </a:lnTo>
                  <a:lnTo>
                    <a:pt x="0" y="41021"/>
                  </a:lnTo>
                  <a:close/>
                </a:path>
              </a:pathLst>
            </a:custGeom>
            <a:solidFill>
              <a:srgbClr val="E0D5C4"/>
            </a:solidFill>
            <a:ln w="14299" cap="sq">
              <a:solidFill>
                <a:srgbClr val="E0D5C4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6783183" y="401879"/>
            <a:ext cx="613181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b="true" sz="1501" spc="29">
                <a:solidFill>
                  <a:srgbClr val="695F52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6268" y="2806827"/>
            <a:ext cx="5436356" cy="2210572"/>
            <a:chOff x="0" y="0"/>
            <a:chExt cx="7248474" cy="29474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48525" cy="2947416"/>
            </a:xfrm>
            <a:custGeom>
              <a:avLst/>
              <a:gdLst/>
              <a:ahLst/>
              <a:cxnLst/>
              <a:rect r="r" b="b" t="t" l="l"/>
              <a:pathLst>
                <a:path h="2947416" w="7248525">
                  <a:moveTo>
                    <a:pt x="0" y="353695"/>
                  </a:moveTo>
                  <a:cubicBezTo>
                    <a:pt x="0" y="158369"/>
                    <a:pt x="158369" y="0"/>
                    <a:pt x="353695" y="0"/>
                  </a:cubicBezTo>
                  <a:lnTo>
                    <a:pt x="6894830" y="0"/>
                  </a:lnTo>
                  <a:cubicBezTo>
                    <a:pt x="7090156" y="0"/>
                    <a:pt x="7248525" y="158369"/>
                    <a:pt x="7248525" y="353695"/>
                  </a:cubicBezTo>
                  <a:lnTo>
                    <a:pt x="7248525" y="2593721"/>
                  </a:lnTo>
                  <a:cubicBezTo>
                    <a:pt x="7248525" y="2789047"/>
                    <a:pt x="7090156" y="2947416"/>
                    <a:pt x="6894830" y="2947416"/>
                  </a:cubicBezTo>
                  <a:lnTo>
                    <a:pt x="353695" y="2947416"/>
                  </a:lnTo>
                  <a:cubicBezTo>
                    <a:pt x="158369" y="2947416"/>
                    <a:pt x="0" y="2789047"/>
                    <a:pt x="0" y="2593721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0D5C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26268" y="2806827"/>
            <a:ext cx="124111" cy="2210572"/>
            <a:chOff x="0" y="0"/>
            <a:chExt cx="165481" cy="29474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5481" cy="2947416"/>
            </a:xfrm>
            <a:custGeom>
              <a:avLst/>
              <a:gdLst/>
              <a:ahLst/>
              <a:cxnLst/>
              <a:rect r="r" b="b" t="t" l="l"/>
              <a:pathLst>
                <a:path h="2947416" w="165481">
                  <a:moveTo>
                    <a:pt x="0" y="0"/>
                  </a:moveTo>
                  <a:lnTo>
                    <a:pt x="165481" y="0"/>
                  </a:lnTo>
                  <a:lnTo>
                    <a:pt x="165481" y="2947416"/>
                  </a:lnTo>
                  <a:lnTo>
                    <a:pt x="0" y="2947416"/>
                  </a:lnTo>
                  <a:close/>
                </a:path>
              </a:pathLst>
            </a:custGeom>
            <a:solidFill>
              <a:srgbClr val="9D2B22"/>
            </a:solidFill>
            <a:ln w="14299" cap="sq">
              <a:solidFill>
                <a:srgbClr val="9D2B22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17076" y="2958122"/>
            <a:ext cx="493710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623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时间跨度长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7076" y="3489265"/>
            <a:ext cx="4937103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95F52"/>
                </a:solidFill>
                <a:latin typeface="Calibri (MS)"/>
                <a:ea typeface="Calibri (MS)"/>
                <a:cs typeface="Calibri (MS)"/>
                <a:sym typeface="Calibri (MS)"/>
              </a:rPr>
              <a:t>研究覆盖 1978—2026 年，单靠当代采访无法完整还原各时期的街景、广告制度、车型结构与消费语境。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71866" y="2806827"/>
            <a:ext cx="5436356" cy="2210572"/>
            <a:chOff x="0" y="0"/>
            <a:chExt cx="7248474" cy="29474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48525" cy="2947416"/>
            </a:xfrm>
            <a:custGeom>
              <a:avLst/>
              <a:gdLst/>
              <a:ahLst/>
              <a:cxnLst/>
              <a:rect r="r" b="b" t="t" l="l"/>
              <a:pathLst>
                <a:path h="2947416" w="7248525">
                  <a:moveTo>
                    <a:pt x="0" y="353695"/>
                  </a:moveTo>
                  <a:cubicBezTo>
                    <a:pt x="0" y="158369"/>
                    <a:pt x="158369" y="0"/>
                    <a:pt x="353695" y="0"/>
                  </a:cubicBezTo>
                  <a:lnTo>
                    <a:pt x="6894830" y="0"/>
                  </a:lnTo>
                  <a:cubicBezTo>
                    <a:pt x="7090156" y="0"/>
                    <a:pt x="7248525" y="158369"/>
                    <a:pt x="7248525" y="353695"/>
                  </a:cubicBezTo>
                  <a:lnTo>
                    <a:pt x="7248525" y="2593721"/>
                  </a:lnTo>
                  <a:cubicBezTo>
                    <a:pt x="7248525" y="2789047"/>
                    <a:pt x="7090156" y="2947416"/>
                    <a:pt x="6894830" y="2947416"/>
                  </a:cubicBezTo>
                  <a:lnTo>
                    <a:pt x="353695" y="2947416"/>
                  </a:lnTo>
                  <a:cubicBezTo>
                    <a:pt x="158369" y="2947416"/>
                    <a:pt x="0" y="2789047"/>
                    <a:pt x="0" y="2593721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0D5C4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471866" y="2806827"/>
            <a:ext cx="124111" cy="2210572"/>
            <a:chOff x="0" y="0"/>
            <a:chExt cx="165481" cy="29474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5481" cy="2947416"/>
            </a:xfrm>
            <a:custGeom>
              <a:avLst/>
              <a:gdLst/>
              <a:ahLst/>
              <a:cxnLst/>
              <a:rect r="r" b="b" t="t" l="l"/>
              <a:pathLst>
                <a:path h="2947416" w="165481">
                  <a:moveTo>
                    <a:pt x="0" y="0"/>
                  </a:moveTo>
                  <a:lnTo>
                    <a:pt x="165481" y="0"/>
                  </a:lnTo>
                  <a:lnTo>
                    <a:pt x="165481" y="2947416"/>
                  </a:lnTo>
                  <a:lnTo>
                    <a:pt x="0" y="2947416"/>
                  </a:lnTo>
                  <a:close/>
                </a:path>
              </a:pathLst>
            </a:custGeom>
            <a:solidFill>
              <a:srgbClr val="B0884B"/>
            </a:solidFill>
            <a:ln w="14299" cap="sq">
              <a:solidFill>
                <a:srgbClr val="B0884B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6762674" y="2958122"/>
            <a:ext cx="493710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623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可追溯性强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62674" y="3489265"/>
            <a:ext cx="4937103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95F52"/>
                </a:solidFill>
                <a:latin typeface="Calibri (MS)"/>
                <a:ea typeface="Calibri (MS)"/>
                <a:cs typeface="Calibri (MS)"/>
                <a:sym typeface="Calibri (MS)"/>
              </a:rPr>
              <a:t>同期报刊、政策文件、品牌资料和城市影像能够提供可核对的时间锚点，避免只凭印象讲“时代感”。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17464" y="2806827"/>
            <a:ext cx="5436356" cy="2210572"/>
            <a:chOff x="0" y="0"/>
            <a:chExt cx="7248474" cy="29474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48525" cy="2947416"/>
            </a:xfrm>
            <a:custGeom>
              <a:avLst/>
              <a:gdLst/>
              <a:ahLst/>
              <a:cxnLst/>
              <a:rect r="r" b="b" t="t" l="l"/>
              <a:pathLst>
                <a:path h="2947416" w="7248525">
                  <a:moveTo>
                    <a:pt x="0" y="353695"/>
                  </a:moveTo>
                  <a:cubicBezTo>
                    <a:pt x="0" y="158369"/>
                    <a:pt x="158369" y="0"/>
                    <a:pt x="353695" y="0"/>
                  </a:cubicBezTo>
                  <a:lnTo>
                    <a:pt x="6894830" y="0"/>
                  </a:lnTo>
                  <a:cubicBezTo>
                    <a:pt x="7090156" y="0"/>
                    <a:pt x="7248525" y="158369"/>
                    <a:pt x="7248525" y="353695"/>
                  </a:cubicBezTo>
                  <a:lnTo>
                    <a:pt x="7248525" y="2593721"/>
                  </a:lnTo>
                  <a:cubicBezTo>
                    <a:pt x="7248525" y="2789047"/>
                    <a:pt x="7090156" y="2947416"/>
                    <a:pt x="6894830" y="2947416"/>
                  </a:cubicBezTo>
                  <a:lnTo>
                    <a:pt x="353695" y="2947416"/>
                  </a:lnTo>
                  <a:cubicBezTo>
                    <a:pt x="158369" y="2947416"/>
                    <a:pt x="0" y="2789047"/>
                    <a:pt x="0" y="2593721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0D5C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017464" y="2806827"/>
            <a:ext cx="124111" cy="2210572"/>
            <a:chOff x="0" y="0"/>
            <a:chExt cx="165481" cy="29474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5481" cy="2947416"/>
            </a:xfrm>
            <a:custGeom>
              <a:avLst/>
              <a:gdLst/>
              <a:ahLst/>
              <a:cxnLst/>
              <a:rect r="r" b="b" t="t" l="l"/>
              <a:pathLst>
                <a:path h="2947416" w="165481">
                  <a:moveTo>
                    <a:pt x="0" y="0"/>
                  </a:moveTo>
                  <a:lnTo>
                    <a:pt x="165481" y="0"/>
                  </a:lnTo>
                  <a:lnTo>
                    <a:pt x="165481" y="2947416"/>
                  </a:lnTo>
                  <a:lnTo>
                    <a:pt x="0" y="2947416"/>
                  </a:lnTo>
                  <a:close/>
                </a:path>
              </a:pathLst>
            </a:custGeom>
            <a:solidFill>
              <a:srgbClr val="4E6681"/>
            </a:solidFill>
            <a:ln w="14299" cap="sq">
              <a:solidFill>
                <a:srgbClr val="4E6681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2308272" y="2958122"/>
            <a:ext cx="493710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623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互证能力高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08272" y="3464824"/>
            <a:ext cx="4937103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95F52"/>
                </a:solidFill>
                <a:latin typeface="Calibri (MS)"/>
                <a:ea typeface="Calibri (MS)"/>
                <a:cs typeface="Calibri (MS)"/>
                <a:sym typeface="Calibri (MS)"/>
              </a:rPr>
              <a:t>文字材料说明制度和话语，图像材料呈现街景与物件，回顾性研究补充解释，三者结合更适合构建可靠结论。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52351" y="5607377"/>
            <a:ext cx="1985858" cy="395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9D2B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具体操作流程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81170" y="6334601"/>
            <a:ext cx="2965542" cy="1551689"/>
            <a:chOff x="0" y="0"/>
            <a:chExt cx="3954056" cy="20689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018" cy="2068957"/>
            </a:xfrm>
            <a:custGeom>
              <a:avLst/>
              <a:gdLst/>
              <a:ahLst/>
              <a:cxnLst/>
              <a:rect r="r" b="b" t="t" l="l"/>
              <a:pathLst>
                <a:path h="2068957" w="3954018">
                  <a:moveTo>
                    <a:pt x="0" y="248285"/>
                  </a:moveTo>
                  <a:cubicBezTo>
                    <a:pt x="0" y="111125"/>
                    <a:pt x="111125" y="0"/>
                    <a:pt x="248285" y="0"/>
                  </a:cubicBezTo>
                  <a:lnTo>
                    <a:pt x="3705733" y="0"/>
                  </a:lnTo>
                  <a:cubicBezTo>
                    <a:pt x="3842893" y="0"/>
                    <a:pt x="3954018" y="111125"/>
                    <a:pt x="3954018" y="248285"/>
                  </a:cubicBezTo>
                  <a:lnTo>
                    <a:pt x="3954018" y="1820672"/>
                  </a:lnTo>
                  <a:cubicBezTo>
                    <a:pt x="3954018" y="1957832"/>
                    <a:pt x="3842893" y="2068957"/>
                    <a:pt x="3705733" y="2068957"/>
                  </a:cubicBezTo>
                  <a:lnTo>
                    <a:pt x="248285" y="2068957"/>
                  </a:lnTo>
                  <a:cubicBezTo>
                    <a:pt x="111125" y="2068957"/>
                    <a:pt x="0" y="1957705"/>
                    <a:pt x="0" y="182067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0D5C4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199150" y="6560972"/>
            <a:ext cx="2926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39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83782" y="6532397"/>
            <a:ext cx="1016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623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资料搜集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89625" y="6912540"/>
            <a:ext cx="250747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95F52"/>
                </a:solidFill>
                <a:latin typeface="Calibri (MS)"/>
                <a:ea typeface="Calibri (MS)"/>
                <a:cs typeface="Calibri (MS)"/>
                <a:sym typeface="Calibri (MS)"/>
              </a:rPr>
              <a:t>报刊 / 政策 / 品牌 / 图像 / 展陈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4426582" y="6334601"/>
            <a:ext cx="2965542" cy="1551689"/>
            <a:chOff x="0" y="0"/>
            <a:chExt cx="3954056" cy="20689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018" cy="2068957"/>
            </a:xfrm>
            <a:custGeom>
              <a:avLst/>
              <a:gdLst/>
              <a:ahLst/>
              <a:cxnLst/>
              <a:rect r="r" b="b" t="t" l="l"/>
              <a:pathLst>
                <a:path h="2068957" w="3954018">
                  <a:moveTo>
                    <a:pt x="0" y="248285"/>
                  </a:moveTo>
                  <a:cubicBezTo>
                    <a:pt x="0" y="111125"/>
                    <a:pt x="111125" y="0"/>
                    <a:pt x="248285" y="0"/>
                  </a:cubicBezTo>
                  <a:lnTo>
                    <a:pt x="3705733" y="0"/>
                  </a:lnTo>
                  <a:cubicBezTo>
                    <a:pt x="3842893" y="0"/>
                    <a:pt x="3954018" y="111125"/>
                    <a:pt x="3954018" y="248285"/>
                  </a:cubicBezTo>
                  <a:lnTo>
                    <a:pt x="3954018" y="1820672"/>
                  </a:lnTo>
                  <a:cubicBezTo>
                    <a:pt x="3954018" y="1957832"/>
                    <a:pt x="3842893" y="2068957"/>
                    <a:pt x="3705733" y="2068957"/>
                  </a:cubicBezTo>
                  <a:lnTo>
                    <a:pt x="248285" y="2068957"/>
                  </a:lnTo>
                  <a:cubicBezTo>
                    <a:pt x="111125" y="2068957"/>
                    <a:pt x="0" y="1957705"/>
                    <a:pt x="0" y="182067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0D5C4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4635027" y="6588423"/>
            <a:ext cx="2926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39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129193" y="6532397"/>
            <a:ext cx="1016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623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分期整理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635027" y="6912540"/>
            <a:ext cx="250747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95F52"/>
                </a:solidFill>
                <a:latin typeface="Calibri (MS)"/>
                <a:ea typeface="Calibri (MS)"/>
                <a:cs typeface="Calibri (MS)"/>
                <a:sym typeface="Calibri (MS)"/>
              </a:rPr>
              <a:t>按产品形态、广告媒介、生活空间共同变化分期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871993" y="6334601"/>
            <a:ext cx="2965542" cy="1551689"/>
            <a:chOff x="0" y="0"/>
            <a:chExt cx="3954056" cy="206891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54018" cy="2068957"/>
            </a:xfrm>
            <a:custGeom>
              <a:avLst/>
              <a:gdLst/>
              <a:ahLst/>
              <a:cxnLst/>
              <a:rect r="r" b="b" t="t" l="l"/>
              <a:pathLst>
                <a:path h="2068957" w="3954018">
                  <a:moveTo>
                    <a:pt x="0" y="248285"/>
                  </a:moveTo>
                  <a:cubicBezTo>
                    <a:pt x="0" y="111125"/>
                    <a:pt x="111125" y="0"/>
                    <a:pt x="248285" y="0"/>
                  </a:cubicBezTo>
                  <a:lnTo>
                    <a:pt x="3705733" y="0"/>
                  </a:lnTo>
                  <a:cubicBezTo>
                    <a:pt x="3842893" y="0"/>
                    <a:pt x="3954018" y="111125"/>
                    <a:pt x="3954018" y="248285"/>
                  </a:cubicBezTo>
                  <a:lnTo>
                    <a:pt x="3954018" y="1820672"/>
                  </a:lnTo>
                  <a:cubicBezTo>
                    <a:pt x="3954018" y="1957832"/>
                    <a:pt x="3842893" y="2068957"/>
                    <a:pt x="3705733" y="2068957"/>
                  </a:cubicBezTo>
                  <a:lnTo>
                    <a:pt x="248285" y="2068957"/>
                  </a:lnTo>
                  <a:cubicBezTo>
                    <a:pt x="111125" y="2068957"/>
                    <a:pt x="0" y="1957705"/>
                    <a:pt x="0" y="182067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0D5C4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8080438" y="6588423"/>
            <a:ext cx="2926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39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574596" y="6532397"/>
            <a:ext cx="1016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623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来源评级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080438" y="6912540"/>
            <a:ext cx="250747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95F52"/>
                </a:solidFill>
                <a:latin typeface="Calibri (MS)"/>
                <a:ea typeface="Calibri (MS)"/>
                <a:cs typeface="Calibri (MS)"/>
                <a:sym typeface="Calibri (MS)"/>
              </a:rPr>
              <a:t>区分直接证据、辅助证据与结构参考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317395" y="6334601"/>
            <a:ext cx="2965542" cy="1551689"/>
            <a:chOff x="0" y="0"/>
            <a:chExt cx="3954056" cy="206891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954018" cy="2068957"/>
            </a:xfrm>
            <a:custGeom>
              <a:avLst/>
              <a:gdLst/>
              <a:ahLst/>
              <a:cxnLst/>
              <a:rect r="r" b="b" t="t" l="l"/>
              <a:pathLst>
                <a:path h="2068957" w="3954018">
                  <a:moveTo>
                    <a:pt x="0" y="248285"/>
                  </a:moveTo>
                  <a:cubicBezTo>
                    <a:pt x="0" y="111125"/>
                    <a:pt x="111125" y="0"/>
                    <a:pt x="248285" y="0"/>
                  </a:cubicBezTo>
                  <a:lnTo>
                    <a:pt x="3705733" y="0"/>
                  </a:lnTo>
                  <a:cubicBezTo>
                    <a:pt x="3842893" y="0"/>
                    <a:pt x="3954018" y="111125"/>
                    <a:pt x="3954018" y="248285"/>
                  </a:cubicBezTo>
                  <a:lnTo>
                    <a:pt x="3954018" y="1820672"/>
                  </a:lnTo>
                  <a:cubicBezTo>
                    <a:pt x="3954018" y="1957832"/>
                    <a:pt x="3842893" y="2068957"/>
                    <a:pt x="3705733" y="2068957"/>
                  </a:cubicBezTo>
                  <a:lnTo>
                    <a:pt x="248285" y="2068957"/>
                  </a:lnTo>
                  <a:cubicBezTo>
                    <a:pt x="111125" y="2068957"/>
                    <a:pt x="0" y="1957705"/>
                    <a:pt x="0" y="182067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0D5C4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11525841" y="6588423"/>
            <a:ext cx="2926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39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020007" y="6532397"/>
            <a:ext cx="1016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623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交叉核验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525841" y="6912540"/>
            <a:ext cx="250747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95F52"/>
                </a:solidFill>
                <a:latin typeface="Calibri (MS)"/>
                <a:ea typeface="Calibri (MS)"/>
                <a:cs typeface="Calibri (MS)"/>
                <a:sym typeface="Calibri (MS)"/>
              </a:rPr>
              <a:t>用多种来源相互印证，排除误写与误认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4762807" y="6334601"/>
            <a:ext cx="2965542" cy="1551689"/>
            <a:chOff x="0" y="0"/>
            <a:chExt cx="3954056" cy="206891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954018" cy="2068957"/>
            </a:xfrm>
            <a:custGeom>
              <a:avLst/>
              <a:gdLst/>
              <a:ahLst/>
              <a:cxnLst/>
              <a:rect r="r" b="b" t="t" l="l"/>
              <a:pathLst>
                <a:path h="2068957" w="3954018">
                  <a:moveTo>
                    <a:pt x="0" y="248285"/>
                  </a:moveTo>
                  <a:cubicBezTo>
                    <a:pt x="0" y="111125"/>
                    <a:pt x="111125" y="0"/>
                    <a:pt x="248285" y="0"/>
                  </a:cubicBezTo>
                  <a:lnTo>
                    <a:pt x="3705733" y="0"/>
                  </a:lnTo>
                  <a:cubicBezTo>
                    <a:pt x="3842893" y="0"/>
                    <a:pt x="3954018" y="111125"/>
                    <a:pt x="3954018" y="248285"/>
                  </a:cubicBezTo>
                  <a:lnTo>
                    <a:pt x="3954018" y="1820672"/>
                  </a:lnTo>
                  <a:cubicBezTo>
                    <a:pt x="3954018" y="1957832"/>
                    <a:pt x="3842893" y="2068957"/>
                    <a:pt x="3705733" y="2068957"/>
                  </a:cubicBezTo>
                  <a:lnTo>
                    <a:pt x="248285" y="2068957"/>
                  </a:lnTo>
                  <a:cubicBezTo>
                    <a:pt x="111125" y="2068957"/>
                    <a:pt x="0" y="1957705"/>
                    <a:pt x="0" y="182067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0D5C4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14971252" y="6588423"/>
            <a:ext cx="29269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39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465409" y="6532397"/>
            <a:ext cx="1016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623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研究转化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971252" y="6912540"/>
            <a:ext cx="250747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95F52"/>
                </a:solidFill>
                <a:latin typeface="Calibri (MS)"/>
                <a:ea typeface="Calibri (MS)"/>
                <a:cs typeface="Calibri (MS)"/>
                <a:sym typeface="Calibri (MS)"/>
              </a:rPr>
              <a:t>提炼结论，并为访谈提纲与AI漫剧提供依据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81170" y="8475964"/>
            <a:ext cx="15243820" cy="1246561"/>
            <a:chOff x="0" y="0"/>
            <a:chExt cx="21798801" cy="178259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798787" cy="1782645"/>
            </a:xfrm>
            <a:custGeom>
              <a:avLst/>
              <a:gdLst/>
              <a:ahLst/>
              <a:cxnLst/>
              <a:rect r="r" b="b" t="t" l="l"/>
              <a:pathLst>
                <a:path h="1782645" w="21798787">
                  <a:moveTo>
                    <a:pt x="0" y="213905"/>
                  </a:moveTo>
                  <a:cubicBezTo>
                    <a:pt x="0" y="95744"/>
                    <a:pt x="58039" y="0"/>
                    <a:pt x="129667" y="0"/>
                  </a:cubicBezTo>
                  <a:lnTo>
                    <a:pt x="21669121" y="0"/>
                  </a:lnTo>
                  <a:cubicBezTo>
                    <a:pt x="21740749" y="0"/>
                    <a:pt x="21798787" y="95744"/>
                    <a:pt x="21798787" y="213905"/>
                  </a:cubicBezTo>
                  <a:lnTo>
                    <a:pt x="21798787" y="1568773"/>
                  </a:lnTo>
                  <a:cubicBezTo>
                    <a:pt x="21798787" y="1686934"/>
                    <a:pt x="21740749" y="1782645"/>
                    <a:pt x="21669121" y="1782645"/>
                  </a:cubicBezTo>
                  <a:lnTo>
                    <a:pt x="129667" y="1782645"/>
                  </a:lnTo>
                  <a:cubicBezTo>
                    <a:pt x="58039" y="1782645"/>
                    <a:pt x="0" y="1686934"/>
                    <a:pt x="0" y="1568773"/>
                  </a:cubicBezTo>
                  <a:close/>
                </a:path>
              </a:pathLst>
            </a:custGeom>
            <a:solidFill>
              <a:srgbClr val="F1E8D8"/>
            </a:solidFill>
            <a:ln w="14299" cap="sq">
              <a:solidFill>
                <a:srgbClr val="F1E8D8"/>
              </a:solidFill>
              <a:prstDash val="solid"/>
              <a:miter/>
            </a:ln>
          </p:spPr>
        </p:sp>
      </p:grpSp>
      <p:sp>
        <p:nvSpPr>
          <p:cNvPr name="TextBox 56" id="56"/>
          <p:cNvSpPr txBox="true"/>
          <p:nvPr/>
        </p:nvSpPr>
        <p:spPr>
          <a:xfrm rot="0">
            <a:off x="1299439" y="8705421"/>
            <a:ext cx="1169124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9D2B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方法关键：分期、核验、互证、来源意识</a:t>
            </a:r>
          </a:p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9D2B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          二手资料不是简单“搜资料”，而是按照史料学和媒介史研究的方式进行筛选与解释。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9003" y="2271484"/>
            <a:ext cx="1043807" cy="76067"/>
            <a:chOff x="0" y="0"/>
            <a:chExt cx="1391742" cy="101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793" cy="101473"/>
            </a:xfrm>
            <a:custGeom>
              <a:avLst/>
              <a:gdLst/>
              <a:ahLst/>
              <a:cxnLst/>
              <a:rect r="r" b="b" t="t" l="l"/>
              <a:pathLst>
                <a:path h="101473" w="1391793">
                  <a:moveTo>
                    <a:pt x="0" y="0"/>
                  </a:moveTo>
                  <a:lnTo>
                    <a:pt x="1391793" y="0"/>
                  </a:lnTo>
                  <a:lnTo>
                    <a:pt x="1391793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9D2B22"/>
            </a:solidFill>
            <a:ln w="14299" cap="sq">
              <a:solidFill>
                <a:srgbClr val="9D2B2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87141" y="2292077"/>
            <a:ext cx="15498042" cy="30766"/>
            <a:chOff x="0" y="0"/>
            <a:chExt cx="20664056" cy="410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64043" cy="41021"/>
            </a:xfrm>
            <a:custGeom>
              <a:avLst/>
              <a:gdLst/>
              <a:ahLst/>
              <a:cxnLst/>
              <a:rect r="r" b="b" t="t" l="l"/>
              <a:pathLst>
                <a:path h="41021" w="20664043">
                  <a:moveTo>
                    <a:pt x="0" y="0"/>
                  </a:moveTo>
                  <a:lnTo>
                    <a:pt x="20664043" y="0"/>
                  </a:lnTo>
                  <a:lnTo>
                    <a:pt x="20664043" y="41021"/>
                  </a:lnTo>
                  <a:lnTo>
                    <a:pt x="0" y="41021"/>
                  </a:lnTo>
                  <a:close/>
                </a:path>
              </a:pathLst>
            </a:custGeom>
            <a:solidFill>
              <a:srgbClr val="E0D5C4"/>
            </a:solidFill>
            <a:ln w="14299" cap="sq">
              <a:solidFill>
                <a:srgbClr val="E0D5C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85092" y="2738199"/>
            <a:ext cx="7632630" cy="1496787"/>
            <a:chOff x="0" y="0"/>
            <a:chExt cx="10176840" cy="19957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76890" cy="1995805"/>
            </a:xfrm>
            <a:custGeom>
              <a:avLst/>
              <a:gdLst/>
              <a:ahLst/>
              <a:cxnLst/>
              <a:rect r="r" b="b" t="t" l="l"/>
              <a:pathLst>
                <a:path h="1995805" w="10176890">
                  <a:moveTo>
                    <a:pt x="0" y="239522"/>
                  </a:moveTo>
                  <a:cubicBezTo>
                    <a:pt x="0" y="107188"/>
                    <a:pt x="107188" y="0"/>
                    <a:pt x="239522" y="0"/>
                  </a:cubicBezTo>
                  <a:lnTo>
                    <a:pt x="9937369" y="0"/>
                  </a:lnTo>
                  <a:cubicBezTo>
                    <a:pt x="10069575" y="0"/>
                    <a:pt x="10176890" y="107188"/>
                    <a:pt x="10176890" y="239522"/>
                  </a:cubicBezTo>
                  <a:lnTo>
                    <a:pt x="10176890" y="1756283"/>
                  </a:lnTo>
                  <a:cubicBezTo>
                    <a:pt x="10176890" y="1888490"/>
                    <a:pt x="10069702" y="1995805"/>
                    <a:pt x="9937369" y="1995805"/>
                  </a:cubicBezTo>
                  <a:lnTo>
                    <a:pt x="239522" y="1995805"/>
                  </a:lnTo>
                  <a:cubicBezTo>
                    <a:pt x="107188" y="1995678"/>
                    <a:pt x="0" y="1888490"/>
                    <a:pt x="0" y="1756283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0D5C4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85092" y="2738199"/>
            <a:ext cx="124111" cy="1496787"/>
            <a:chOff x="0" y="0"/>
            <a:chExt cx="165481" cy="19957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5481" cy="1995678"/>
            </a:xfrm>
            <a:custGeom>
              <a:avLst/>
              <a:gdLst/>
              <a:ahLst/>
              <a:cxnLst/>
              <a:rect r="r" b="b" t="t" l="l"/>
              <a:pathLst>
                <a:path h="1995678" w="165481">
                  <a:moveTo>
                    <a:pt x="0" y="0"/>
                  </a:moveTo>
                  <a:lnTo>
                    <a:pt x="165481" y="0"/>
                  </a:lnTo>
                  <a:lnTo>
                    <a:pt x="165481" y="1995678"/>
                  </a:lnTo>
                  <a:lnTo>
                    <a:pt x="0" y="1995678"/>
                  </a:lnTo>
                  <a:close/>
                </a:path>
              </a:pathLst>
            </a:custGeom>
            <a:solidFill>
              <a:srgbClr val="9D2B22"/>
            </a:solidFill>
            <a:ln w="14299" cap="sq">
              <a:solidFill>
                <a:srgbClr val="9D2B2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85092" y="4357945"/>
            <a:ext cx="7632630" cy="1496787"/>
            <a:chOff x="0" y="0"/>
            <a:chExt cx="10176840" cy="19957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76890" cy="1995805"/>
            </a:xfrm>
            <a:custGeom>
              <a:avLst/>
              <a:gdLst/>
              <a:ahLst/>
              <a:cxnLst/>
              <a:rect r="r" b="b" t="t" l="l"/>
              <a:pathLst>
                <a:path h="1995805" w="10176890">
                  <a:moveTo>
                    <a:pt x="0" y="239522"/>
                  </a:moveTo>
                  <a:cubicBezTo>
                    <a:pt x="0" y="107188"/>
                    <a:pt x="107188" y="0"/>
                    <a:pt x="239522" y="0"/>
                  </a:cubicBezTo>
                  <a:lnTo>
                    <a:pt x="9937369" y="0"/>
                  </a:lnTo>
                  <a:cubicBezTo>
                    <a:pt x="10069575" y="0"/>
                    <a:pt x="10176890" y="107188"/>
                    <a:pt x="10176890" y="239522"/>
                  </a:cubicBezTo>
                  <a:lnTo>
                    <a:pt x="10176890" y="1756283"/>
                  </a:lnTo>
                  <a:cubicBezTo>
                    <a:pt x="10176890" y="1888490"/>
                    <a:pt x="10069702" y="1995805"/>
                    <a:pt x="9937369" y="1995805"/>
                  </a:cubicBezTo>
                  <a:lnTo>
                    <a:pt x="239522" y="1995805"/>
                  </a:lnTo>
                  <a:cubicBezTo>
                    <a:pt x="107188" y="1995678"/>
                    <a:pt x="0" y="1888490"/>
                    <a:pt x="0" y="1756283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0D5C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85092" y="4357945"/>
            <a:ext cx="124111" cy="1496787"/>
            <a:chOff x="0" y="0"/>
            <a:chExt cx="165481" cy="19957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5481" cy="1995678"/>
            </a:xfrm>
            <a:custGeom>
              <a:avLst/>
              <a:gdLst/>
              <a:ahLst/>
              <a:cxnLst/>
              <a:rect r="r" b="b" t="t" l="l"/>
              <a:pathLst>
                <a:path h="1995678" w="165481">
                  <a:moveTo>
                    <a:pt x="0" y="0"/>
                  </a:moveTo>
                  <a:lnTo>
                    <a:pt x="165481" y="0"/>
                  </a:lnTo>
                  <a:lnTo>
                    <a:pt x="165481" y="1995678"/>
                  </a:lnTo>
                  <a:lnTo>
                    <a:pt x="0" y="1995678"/>
                  </a:lnTo>
                  <a:close/>
                </a:path>
              </a:pathLst>
            </a:custGeom>
            <a:solidFill>
              <a:srgbClr val="B0884B"/>
            </a:solidFill>
            <a:ln w="14299" cap="sq">
              <a:solidFill>
                <a:srgbClr val="B0884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85092" y="5977700"/>
            <a:ext cx="7632630" cy="1496787"/>
            <a:chOff x="0" y="0"/>
            <a:chExt cx="10176840" cy="19957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76890" cy="1995805"/>
            </a:xfrm>
            <a:custGeom>
              <a:avLst/>
              <a:gdLst/>
              <a:ahLst/>
              <a:cxnLst/>
              <a:rect r="r" b="b" t="t" l="l"/>
              <a:pathLst>
                <a:path h="1995805" w="10176890">
                  <a:moveTo>
                    <a:pt x="0" y="239522"/>
                  </a:moveTo>
                  <a:cubicBezTo>
                    <a:pt x="0" y="107188"/>
                    <a:pt x="107188" y="0"/>
                    <a:pt x="239522" y="0"/>
                  </a:cubicBezTo>
                  <a:lnTo>
                    <a:pt x="9937369" y="0"/>
                  </a:lnTo>
                  <a:cubicBezTo>
                    <a:pt x="10069575" y="0"/>
                    <a:pt x="10176890" y="107188"/>
                    <a:pt x="10176890" y="239522"/>
                  </a:cubicBezTo>
                  <a:lnTo>
                    <a:pt x="10176890" y="1756283"/>
                  </a:lnTo>
                  <a:cubicBezTo>
                    <a:pt x="10176890" y="1888490"/>
                    <a:pt x="10069702" y="1995805"/>
                    <a:pt x="9937369" y="1995805"/>
                  </a:cubicBezTo>
                  <a:lnTo>
                    <a:pt x="239522" y="1995805"/>
                  </a:lnTo>
                  <a:cubicBezTo>
                    <a:pt x="107188" y="1995678"/>
                    <a:pt x="0" y="1888490"/>
                    <a:pt x="0" y="1756283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0D5C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85092" y="5977700"/>
            <a:ext cx="124111" cy="1496787"/>
            <a:chOff x="0" y="0"/>
            <a:chExt cx="165481" cy="19957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5481" cy="1995678"/>
            </a:xfrm>
            <a:custGeom>
              <a:avLst/>
              <a:gdLst/>
              <a:ahLst/>
              <a:cxnLst/>
              <a:rect r="r" b="b" t="t" l="l"/>
              <a:pathLst>
                <a:path h="1995678" w="165481">
                  <a:moveTo>
                    <a:pt x="0" y="0"/>
                  </a:moveTo>
                  <a:lnTo>
                    <a:pt x="165481" y="0"/>
                  </a:lnTo>
                  <a:lnTo>
                    <a:pt x="165481" y="1995678"/>
                  </a:lnTo>
                  <a:lnTo>
                    <a:pt x="0" y="1995678"/>
                  </a:lnTo>
                  <a:close/>
                </a:path>
              </a:pathLst>
            </a:custGeom>
            <a:solidFill>
              <a:srgbClr val="4E6681"/>
            </a:solidFill>
            <a:ln w="14299" cap="sq">
              <a:solidFill>
                <a:srgbClr val="4E6681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85092" y="7597454"/>
            <a:ext cx="7632630" cy="1496787"/>
            <a:chOff x="0" y="0"/>
            <a:chExt cx="10176840" cy="19957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76890" cy="1995805"/>
            </a:xfrm>
            <a:custGeom>
              <a:avLst/>
              <a:gdLst/>
              <a:ahLst/>
              <a:cxnLst/>
              <a:rect r="r" b="b" t="t" l="l"/>
              <a:pathLst>
                <a:path h="1995805" w="10176890">
                  <a:moveTo>
                    <a:pt x="0" y="239522"/>
                  </a:moveTo>
                  <a:cubicBezTo>
                    <a:pt x="0" y="107188"/>
                    <a:pt x="107188" y="0"/>
                    <a:pt x="239522" y="0"/>
                  </a:cubicBezTo>
                  <a:lnTo>
                    <a:pt x="9937369" y="0"/>
                  </a:lnTo>
                  <a:cubicBezTo>
                    <a:pt x="10069575" y="0"/>
                    <a:pt x="10176890" y="107188"/>
                    <a:pt x="10176890" y="239522"/>
                  </a:cubicBezTo>
                  <a:lnTo>
                    <a:pt x="10176890" y="1756283"/>
                  </a:lnTo>
                  <a:cubicBezTo>
                    <a:pt x="10176890" y="1888490"/>
                    <a:pt x="10069702" y="1995805"/>
                    <a:pt x="9937369" y="1995805"/>
                  </a:cubicBezTo>
                  <a:lnTo>
                    <a:pt x="239522" y="1995805"/>
                  </a:lnTo>
                  <a:cubicBezTo>
                    <a:pt x="107188" y="1995678"/>
                    <a:pt x="0" y="1888490"/>
                    <a:pt x="0" y="1756283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0D5C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85092" y="7597454"/>
            <a:ext cx="124111" cy="1496787"/>
            <a:chOff x="0" y="0"/>
            <a:chExt cx="165481" cy="19957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5481" cy="1995678"/>
            </a:xfrm>
            <a:custGeom>
              <a:avLst/>
              <a:gdLst/>
              <a:ahLst/>
              <a:cxnLst/>
              <a:rect r="r" b="b" t="t" l="l"/>
              <a:pathLst>
                <a:path h="1995678" w="165481">
                  <a:moveTo>
                    <a:pt x="0" y="0"/>
                  </a:moveTo>
                  <a:lnTo>
                    <a:pt x="165481" y="0"/>
                  </a:lnTo>
                  <a:lnTo>
                    <a:pt x="165481" y="1995678"/>
                  </a:lnTo>
                  <a:lnTo>
                    <a:pt x="0" y="1995678"/>
                  </a:lnTo>
                  <a:close/>
                </a:path>
              </a:pathLst>
            </a:custGeom>
            <a:solidFill>
              <a:srgbClr val="487068"/>
            </a:solidFill>
            <a:ln w="14299" cap="sq">
              <a:solidFill>
                <a:srgbClr val="487068"/>
              </a:solidFill>
              <a:prstDash val="solid"/>
              <a:miter/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8867683" y="2718302"/>
            <a:ext cx="8691726" cy="6518794"/>
          </a:xfrm>
          <a:custGeom>
            <a:avLst/>
            <a:gdLst/>
            <a:ahLst/>
            <a:cxnLst/>
            <a:rect r="r" b="b" t="t" l="l"/>
            <a:pathLst>
              <a:path h="6518794" w="8691726">
                <a:moveTo>
                  <a:pt x="0" y="0"/>
                </a:moveTo>
                <a:lnTo>
                  <a:pt x="8691726" y="0"/>
                </a:lnTo>
                <a:lnTo>
                  <a:pt x="8691726" y="6518795"/>
                </a:lnTo>
                <a:lnTo>
                  <a:pt x="0" y="6518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91547" y="401879"/>
            <a:ext cx="4319397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29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PART 02 · 史料来源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1547" y="756523"/>
            <a:ext cx="14751710" cy="74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623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二手资料的来源结构与核验标准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8998" y="1627756"/>
            <a:ext cx="16467553" cy="422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95F52"/>
                </a:solidFill>
                <a:latin typeface="Calibri (MS)"/>
                <a:ea typeface="Calibri (MS)"/>
                <a:cs typeface="Calibri (MS)"/>
                <a:sym typeface="Calibri (MS)"/>
              </a:rPr>
              <a:t>所有材料均按“能否直接作为事实依据”进行区分，避免把参考图或后期回忆误写成历史事实。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783183" y="401879"/>
            <a:ext cx="613181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b="true" sz="1501" spc="29">
                <a:solidFill>
                  <a:srgbClr val="695F52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5890" y="2931824"/>
            <a:ext cx="7133377" cy="41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b="true" sz="2251" spc="44">
                <a:solidFill>
                  <a:srgbClr val="26231F"/>
                </a:solidFill>
                <a:latin typeface="Arimo Bold"/>
                <a:ea typeface="Arimo Bold"/>
                <a:cs typeface="Arimo Bold"/>
                <a:sym typeface="Arimo Bold"/>
              </a:rPr>
              <a:t>A类：同期报刊与政策资料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5890" y="3430153"/>
            <a:ext cx="713337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695F52"/>
                </a:solidFill>
                <a:latin typeface="Calibri (MS)"/>
                <a:ea typeface="Calibri (MS)"/>
                <a:cs typeface="Calibri (MS)"/>
                <a:sym typeface="Calibri (MS)"/>
              </a:rPr>
              <a:t>如《人民日报》1980《自行车何以出口困难》、1985《自行车供销正在向买方市场过渡》、2017 共享单车指导意见。用于建立时间节点与制度背景。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5890" y="4547349"/>
            <a:ext cx="7133377" cy="41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b="true" sz="2251" spc="44">
                <a:solidFill>
                  <a:srgbClr val="26231F"/>
                </a:solidFill>
                <a:latin typeface="Arimo Bold"/>
                <a:ea typeface="Arimo Bold"/>
                <a:cs typeface="Arimo Bold"/>
                <a:sym typeface="Arimo Bold"/>
              </a:rPr>
              <a:t>B类：品牌与行业资料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5890" y="5049907"/>
            <a:ext cx="713337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695F52"/>
                </a:solidFill>
                <a:latin typeface="Calibri (MS)"/>
                <a:ea typeface="Calibri (MS)"/>
                <a:cs typeface="Calibri (MS)"/>
                <a:sym typeface="Calibri (MS)"/>
              </a:rPr>
              <a:t>如捷安特中国企业时间线、商务部电动自行车发展资料。用于辅助理解品牌进入、产业变化与产品分化。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5890" y="6167095"/>
            <a:ext cx="7133377" cy="41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b="true" sz="2251" spc="44">
                <a:solidFill>
                  <a:srgbClr val="26231F"/>
                </a:solidFill>
                <a:latin typeface="Arimo Bold"/>
                <a:ea typeface="Arimo Bold"/>
                <a:cs typeface="Arimo Bold"/>
                <a:sym typeface="Arimo Bold"/>
              </a:rPr>
              <a:t>C类：街景影像与实物图像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5890" y="6669662"/>
            <a:ext cx="713337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695F52"/>
                </a:solidFill>
                <a:latin typeface="Calibri (MS)"/>
                <a:ea typeface="Calibri (MS)"/>
                <a:cs typeface="Calibri (MS)"/>
                <a:sym typeface="Calibri (MS)"/>
              </a:rPr>
              <a:t>如 Wikimedia Commons 的北京街头、自行车、家庭展陈与共享单车照片。用于提取服装、车体结构、建筑、城市设施和日常物件。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5890" y="7786849"/>
            <a:ext cx="7133377" cy="41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b="true" sz="2251" spc="44">
                <a:solidFill>
                  <a:srgbClr val="26231F"/>
                </a:solidFill>
                <a:latin typeface="Arimo Bold"/>
                <a:ea typeface="Arimo Bold"/>
                <a:cs typeface="Arimo Bold"/>
                <a:sym typeface="Arimo Bold"/>
              </a:rPr>
              <a:t>D类：回顾性研究与展陈材料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75890" y="8289417"/>
            <a:ext cx="713337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695F52"/>
                </a:solidFill>
                <a:latin typeface="Calibri (MS)"/>
                <a:ea typeface="Calibri (MS)"/>
                <a:cs typeface="Calibri (MS)"/>
                <a:sym typeface="Calibri (MS)"/>
              </a:rPr>
              <a:t>如人民网回顾、自行车票口述史、展陈影像。用于补充记忆与解释，但不直接代替同期证据。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151" y="282178"/>
            <a:ext cx="10917374" cy="31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A32E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史料分析 / 二手资料调查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8151" y="751961"/>
            <a:ext cx="16408060" cy="75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阶段一｜改革开放初期（1978—1985）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9337" y="1691831"/>
            <a:ext cx="16270796" cy="582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研究焦点：自行车仍是重要耐用品，但供给方式逐渐松动；研究不能把整个1980年代概括成不变的“票证时代”。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16454" y="2395023"/>
            <a:ext cx="1030072" cy="69209"/>
            <a:chOff x="0" y="0"/>
            <a:chExt cx="1373429" cy="922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3378" cy="92329"/>
            </a:xfrm>
            <a:custGeom>
              <a:avLst/>
              <a:gdLst/>
              <a:ahLst/>
              <a:cxnLst/>
              <a:rect r="r" b="b" t="t" l="l"/>
              <a:pathLst>
                <a:path h="92329" w="1373378">
                  <a:moveTo>
                    <a:pt x="0" y="0"/>
                  </a:moveTo>
                  <a:lnTo>
                    <a:pt x="1373378" y="0"/>
                  </a:lnTo>
                  <a:lnTo>
                    <a:pt x="1373378" y="92329"/>
                  </a:lnTo>
                  <a:lnTo>
                    <a:pt x="0" y="92329"/>
                  </a:lnTo>
                  <a:close/>
                </a:path>
              </a:pathLst>
            </a:custGeom>
            <a:solidFill>
              <a:srgbClr val="A32E26"/>
            </a:solidFill>
            <a:ln w="14299" cap="sq">
              <a:solidFill>
                <a:srgbClr val="A32E26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900866" y="2408758"/>
            <a:ext cx="15594130" cy="33518"/>
            <a:chOff x="0" y="0"/>
            <a:chExt cx="20792173" cy="44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92187" cy="44704"/>
            </a:xfrm>
            <a:custGeom>
              <a:avLst/>
              <a:gdLst/>
              <a:ahLst/>
              <a:cxnLst/>
              <a:rect r="r" b="b" t="t" l="l"/>
              <a:pathLst>
                <a:path h="44704" w="20792187">
                  <a:moveTo>
                    <a:pt x="0" y="0"/>
                  </a:moveTo>
                  <a:lnTo>
                    <a:pt x="20792187" y="0"/>
                  </a:lnTo>
                  <a:lnTo>
                    <a:pt x="20792187" y="44704"/>
                  </a:lnTo>
                  <a:lnTo>
                    <a:pt x="0" y="44704"/>
                  </a:lnTo>
                  <a:close/>
                </a:path>
              </a:pathLst>
            </a:custGeom>
            <a:solidFill>
              <a:srgbClr val="DAD0C2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6641337" y="342405"/>
            <a:ext cx="690963" cy="3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b="true" sz="1501" spc="29">
                <a:solidFill>
                  <a:srgbClr val="6F665D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85092" y="2779376"/>
            <a:ext cx="8003248" cy="4667660"/>
            <a:chOff x="0" y="0"/>
            <a:chExt cx="10670997" cy="62235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70922" cy="6223508"/>
            </a:xfrm>
            <a:custGeom>
              <a:avLst/>
              <a:gdLst/>
              <a:ahLst/>
              <a:cxnLst/>
              <a:rect r="r" b="b" t="t" l="l"/>
              <a:pathLst>
                <a:path h="6223508" w="10670922">
                  <a:moveTo>
                    <a:pt x="0" y="497840"/>
                  </a:moveTo>
                  <a:cubicBezTo>
                    <a:pt x="0" y="222885"/>
                    <a:pt x="222885" y="0"/>
                    <a:pt x="497840" y="0"/>
                  </a:cubicBezTo>
                  <a:lnTo>
                    <a:pt x="10173081" y="0"/>
                  </a:lnTo>
                  <a:cubicBezTo>
                    <a:pt x="10448037" y="0"/>
                    <a:pt x="10670922" y="222885"/>
                    <a:pt x="10670922" y="497840"/>
                  </a:cubicBezTo>
                  <a:lnTo>
                    <a:pt x="10670922" y="5725668"/>
                  </a:lnTo>
                  <a:cubicBezTo>
                    <a:pt x="10670922" y="6000623"/>
                    <a:pt x="10448037" y="6223508"/>
                    <a:pt x="10173081" y="6223508"/>
                  </a:cubicBezTo>
                  <a:lnTo>
                    <a:pt x="497840" y="6223508"/>
                  </a:lnTo>
                  <a:cubicBezTo>
                    <a:pt x="222885" y="6223508"/>
                    <a:pt x="0" y="6000623"/>
                    <a:pt x="0" y="572566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29500" y="2923794"/>
            <a:ext cx="7714421" cy="3317396"/>
            <a:chOff x="0" y="0"/>
            <a:chExt cx="10285895" cy="4423194"/>
          </a:xfrm>
        </p:grpSpPr>
        <p:sp>
          <p:nvSpPr>
            <p:cNvPr name="Freeform 13" id="13" descr="image1.jpg"/>
            <p:cNvSpPr/>
            <p:nvPr/>
          </p:nvSpPr>
          <p:spPr>
            <a:xfrm flipH="false" flipV="false" rot="0">
              <a:off x="0" y="0"/>
              <a:ext cx="10285857" cy="4423151"/>
            </a:xfrm>
            <a:custGeom>
              <a:avLst/>
              <a:gdLst/>
              <a:ahLst/>
              <a:cxnLst/>
              <a:rect r="r" b="b" t="t" l="l"/>
              <a:pathLst>
                <a:path h="4423151" w="10285857">
                  <a:moveTo>
                    <a:pt x="0" y="0"/>
                  </a:moveTo>
                  <a:lnTo>
                    <a:pt x="10285857" y="0"/>
                  </a:lnTo>
                  <a:lnTo>
                    <a:pt x="10285857" y="4423151"/>
                  </a:lnTo>
                  <a:lnTo>
                    <a:pt x="0" y="4423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266" r="0" b="-32269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46822" y="6336440"/>
            <a:ext cx="727978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49">
                <a:solidFill>
                  <a:srgbClr val="282724"/>
                </a:solidFill>
                <a:latin typeface="Arimo Bold"/>
                <a:ea typeface="Arimo Bold"/>
                <a:cs typeface="Arimo Bold"/>
                <a:sym typeface="Arimo Bold"/>
              </a:rPr>
              <a:t>1978年3月：北京街头自行车与竹脚手架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6822" y="6805798"/>
            <a:ext cx="7279786" cy="627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spc="23">
                <a:solidFill>
                  <a:srgbClr val="6F665D"/>
                </a:solidFill>
                <a:latin typeface="Arimo"/>
                <a:ea typeface="Arimo"/>
                <a:cs typeface="Arimo"/>
                <a:sym typeface="Arimo"/>
              </a:rPr>
              <a:t>S23 | Wikimedia Commons | 摄影 LBM1948 | CC BY-SA 4.0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62307" y="2779376"/>
            <a:ext cx="8209150" cy="4667660"/>
            <a:chOff x="0" y="0"/>
            <a:chExt cx="10945533" cy="622354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45495" cy="6223508"/>
            </a:xfrm>
            <a:custGeom>
              <a:avLst/>
              <a:gdLst/>
              <a:ahLst/>
              <a:cxnLst/>
              <a:rect r="r" b="b" t="t" l="l"/>
              <a:pathLst>
                <a:path h="6223508" w="10945495">
                  <a:moveTo>
                    <a:pt x="0" y="497840"/>
                  </a:moveTo>
                  <a:cubicBezTo>
                    <a:pt x="0" y="222885"/>
                    <a:pt x="222885" y="0"/>
                    <a:pt x="497840" y="0"/>
                  </a:cubicBezTo>
                  <a:lnTo>
                    <a:pt x="10447655" y="0"/>
                  </a:lnTo>
                  <a:cubicBezTo>
                    <a:pt x="10722611" y="0"/>
                    <a:pt x="10945495" y="222885"/>
                    <a:pt x="10945495" y="497840"/>
                  </a:cubicBezTo>
                  <a:lnTo>
                    <a:pt x="10945495" y="5725668"/>
                  </a:lnTo>
                  <a:cubicBezTo>
                    <a:pt x="10945495" y="6000623"/>
                    <a:pt x="10722611" y="6223508"/>
                    <a:pt x="10447655" y="6223508"/>
                  </a:cubicBezTo>
                  <a:lnTo>
                    <a:pt x="497840" y="6223508"/>
                  </a:lnTo>
                  <a:cubicBezTo>
                    <a:pt x="222885" y="6223508"/>
                    <a:pt x="0" y="6000623"/>
                    <a:pt x="0" y="5725668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306716" y="2923794"/>
            <a:ext cx="7920323" cy="3317396"/>
            <a:chOff x="0" y="0"/>
            <a:chExt cx="10560431" cy="4423194"/>
          </a:xfrm>
        </p:grpSpPr>
        <p:sp>
          <p:nvSpPr>
            <p:cNvPr name="Freeform 19" id="19" descr="image2.jpg"/>
            <p:cNvSpPr/>
            <p:nvPr/>
          </p:nvSpPr>
          <p:spPr>
            <a:xfrm flipH="false" flipV="false" rot="0">
              <a:off x="0" y="0"/>
              <a:ext cx="10560431" cy="4423151"/>
            </a:xfrm>
            <a:custGeom>
              <a:avLst/>
              <a:gdLst/>
              <a:ahLst/>
              <a:cxnLst/>
              <a:rect r="r" b="b" t="t" l="l"/>
              <a:pathLst>
                <a:path h="4423151" w="10560431">
                  <a:moveTo>
                    <a:pt x="0" y="0"/>
                  </a:moveTo>
                  <a:lnTo>
                    <a:pt x="10560431" y="0"/>
                  </a:lnTo>
                  <a:lnTo>
                    <a:pt x="10560431" y="4423151"/>
                  </a:lnTo>
                  <a:lnTo>
                    <a:pt x="0" y="4423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118" r="-1" b="-38119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585808" y="6322123"/>
            <a:ext cx="745823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49">
                <a:solidFill>
                  <a:srgbClr val="282724"/>
                </a:solidFill>
                <a:latin typeface="Arimo Bold"/>
                <a:ea typeface="Arimo Bold"/>
                <a:cs typeface="Arimo Bold"/>
                <a:sym typeface="Arimo Bold"/>
              </a:rPr>
              <a:t>1978年3月：北京生活服务网点前的自行车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79896" y="6712649"/>
            <a:ext cx="7458237" cy="627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spc="23">
                <a:solidFill>
                  <a:srgbClr val="6F665D"/>
                </a:solidFill>
                <a:latin typeface="Arimo"/>
                <a:ea typeface="Arimo"/>
                <a:cs typeface="Arimo"/>
                <a:sym typeface="Arimo"/>
              </a:rPr>
              <a:t>S24 | Wikimedia Commons | 同组1978年北京城市生活影像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53719" y="7597454"/>
            <a:ext cx="8058160" cy="865356"/>
            <a:chOff x="0" y="0"/>
            <a:chExt cx="10744213" cy="11538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44200" cy="1153795"/>
            </a:xfrm>
            <a:custGeom>
              <a:avLst/>
              <a:gdLst/>
              <a:ahLst/>
              <a:cxnLst/>
              <a:rect r="r" b="b" t="t" l="l"/>
              <a:pathLst>
                <a:path h="1153795" w="10744200">
                  <a:moveTo>
                    <a:pt x="0" y="92329"/>
                  </a:moveTo>
                  <a:cubicBezTo>
                    <a:pt x="0" y="41275"/>
                    <a:pt x="41275" y="0"/>
                    <a:pt x="92329" y="0"/>
                  </a:cubicBezTo>
                  <a:lnTo>
                    <a:pt x="10651871" y="0"/>
                  </a:lnTo>
                  <a:cubicBezTo>
                    <a:pt x="10702925" y="0"/>
                    <a:pt x="10744200" y="41275"/>
                    <a:pt x="10744200" y="92329"/>
                  </a:cubicBezTo>
                  <a:lnTo>
                    <a:pt x="10744200" y="1061466"/>
                  </a:lnTo>
                  <a:cubicBezTo>
                    <a:pt x="10744200" y="1112393"/>
                    <a:pt x="10702925" y="1153795"/>
                    <a:pt x="10651871" y="1153795"/>
                  </a:cubicBezTo>
                  <a:lnTo>
                    <a:pt x="92329" y="1153795"/>
                  </a:lnTo>
                  <a:cubicBezTo>
                    <a:pt x="41275" y="1153795"/>
                    <a:pt x="0" y="1112520"/>
                    <a:pt x="0" y="1061466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331490" y="7823473"/>
            <a:ext cx="69096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32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12563" y="7698810"/>
            <a:ext cx="68130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《自行车何以出口困难》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12563" y="8120539"/>
            <a:ext cx="6813080" cy="335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《人民日报》1980-01-02｜同期期刊报道：质量、设计与出口结构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299572" y="7597454"/>
            <a:ext cx="8030708" cy="865356"/>
            <a:chOff x="0" y="0"/>
            <a:chExt cx="10707611" cy="11538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07624" cy="1153795"/>
            </a:xfrm>
            <a:custGeom>
              <a:avLst/>
              <a:gdLst/>
              <a:ahLst/>
              <a:cxnLst/>
              <a:rect r="r" b="b" t="t" l="l"/>
              <a:pathLst>
                <a:path h="1153795" w="10707624">
                  <a:moveTo>
                    <a:pt x="0" y="92329"/>
                  </a:moveTo>
                  <a:cubicBezTo>
                    <a:pt x="0" y="41275"/>
                    <a:pt x="41275" y="0"/>
                    <a:pt x="92329" y="0"/>
                  </a:cubicBezTo>
                  <a:lnTo>
                    <a:pt x="10615295" y="0"/>
                  </a:lnTo>
                  <a:cubicBezTo>
                    <a:pt x="10666222" y="0"/>
                    <a:pt x="10707624" y="41275"/>
                    <a:pt x="10707624" y="92329"/>
                  </a:cubicBezTo>
                  <a:lnTo>
                    <a:pt x="10707624" y="1061466"/>
                  </a:lnTo>
                  <a:cubicBezTo>
                    <a:pt x="10707624" y="1112393"/>
                    <a:pt x="10666349" y="1153795"/>
                    <a:pt x="10615295" y="1153795"/>
                  </a:cubicBezTo>
                  <a:lnTo>
                    <a:pt x="92329" y="1153795"/>
                  </a:lnTo>
                  <a:cubicBezTo>
                    <a:pt x="41275" y="1153795"/>
                    <a:pt x="0" y="1112520"/>
                    <a:pt x="0" y="1061466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9503445" y="7823473"/>
            <a:ext cx="690963" cy="3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32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58415" y="7698810"/>
            <a:ext cx="678562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《自行车供销正在向买方市场过渡》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67940" y="8120539"/>
            <a:ext cx="6785629" cy="335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《人民日报》1985-11-25｜记录部分地区供销关系变化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53719" y="8723043"/>
            <a:ext cx="16404003" cy="700630"/>
            <a:chOff x="0" y="0"/>
            <a:chExt cx="21872004" cy="93417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871939" cy="934085"/>
            </a:xfrm>
            <a:custGeom>
              <a:avLst/>
              <a:gdLst/>
              <a:ahLst/>
              <a:cxnLst/>
              <a:rect r="r" b="b" t="t" l="l"/>
              <a:pathLst>
                <a:path h="934085" w="21871939">
                  <a:moveTo>
                    <a:pt x="0" y="74676"/>
                  </a:moveTo>
                  <a:cubicBezTo>
                    <a:pt x="0" y="33401"/>
                    <a:pt x="33401" y="0"/>
                    <a:pt x="74676" y="0"/>
                  </a:cubicBezTo>
                  <a:lnTo>
                    <a:pt x="21797263" y="0"/>
                  </a:lnTo>
                  <a:cubicBezTo>
                    <a:pt x="21838538" y="0"/>
                    <a:pt x="21871939" y="33401"/>
                    <a:pt x="21871939" y="74676"/>
                  </a:cubicBezTo>
                  <a:lnTo>
                    <a:pt x="21871939" y="859409"/>
                  </a:lnTo>
                  <a:cubicBezTo>
                    <a:pt x="21871939" y="900684"/>
                    <a:pt x="21838538" y="934085"/>
                    <a:pt x="21797263" y="934085"/>
                  </a:cubicBezTo>
                  <a:lnTo>
                    <a:pt x="74676" y="934085"/>
                  </a:lnTo>
                  <a:cubicBezTo>
                    <a:pt x="33401" y="934212"/>
                    <a:pt x="0" y="900684"/>
                    <a:pt x="0" y="859409"/>
                  </a:cubicBezTo>
                  <a:close/>
                </a:path>
              </a:pathLst>
            </a:custGeom>
            <a:solidFill>
              <a:srgbClr val="282724"/>
            </a:solidFill>
            <a:ln w="14299" cap="sq">
              <a:solidFill>
                <a:srgbClr val="282724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308592" y="8838124"/>
            <a:ext cx="168056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本阶段结论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04070" y="8839995"/>
            <a:ext cx="1414314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照片显示自行车高度嵌入城市日常；报刊揭示从供给约束到市场变化的过程。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6454" y="2395023"/>
            <a:ext cx="1030072" cy="69209"/>
            <a:chOff x="0" y="0"/>
            <a:chExt cx="1373429" cy="922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3378" cy="92329"/>
            </a:xfrm>
            <a:custGeom>
              <a:avLst/>
              <a:gdLst/>
              <a:ahLst/>
              <a:cxnLst/>
              <a:rect r="r" b="b" t="t" l="l"/>
              <a:pathLst>
                <a:path h="92329" w="1373378">
                  <a:moveTo>
                    <a:pt x="0" y="0"/>
                  </a:moveTo>
                  <a:lnTo>
                    <a:pt x="1373378" y="0"/>
                  </a:lnTo>
                  <a:lnTo>
                    <a:pt x="1373378" y="92329"/>
                  </a:lnTo>
                  <a:lnTo>
                    <a:pt x="0" y="92329"/>
                  </a:lnTo>
                  <a:close/>
                </a:path>
              </a:pathLst>
            </a:custGeom>
            <a:solidFill>
              <a:srgbClr val="A32E26"/>
            </a:solidFill>
            <a:ln w="14299" cap="sq">
              <a:solidFill>
                <a:srgbClr val="A32E2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00866" y="2408758"/>
            <a:ext cx="15594130" cy="33518"/>
            <a:chOff x="0" y="0"/>
            <a:chExt cx="20792173" cy="446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92187" cy="44704"/>
            </a:xfrm>
            <a:custGeom>
              <a:avLst/>
              <a:gdLst/>
              <a:ahLst/>
              <a:cxnLst/>
              <a:rect r="r" b="b" t="t" l="l"/>
              <a:pathLst>
                <a:path h="44704" w="20792187">
                  <a:moveTo>
                    <a:pt x="0" y="0"/>
                  </a:moveTo>
                  <a:lnTo>
                    <a:pt x="20792187" y="0"/>
                  </a:lnTo>
                  <a:lnTo>
                    <a:pt x="20792187" y="44704"/>
                  </a:lnTo>
                  <a:lnTo>
                    <a:pt x="0" y="44704"/>
                  </a:lnTo>
                  <a:close/>
                </a:path>
              </a:pathLst>
            </a:custGeom>
            <a:solidFill>
              <a:srgbClr val="DAD0C2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83063" y="2880498"/>
            <a:ext cx="10240708" cy="5257905"/>
            <a:chOff x="0" y="0"/>
            <a:chExt cx="13654278" cy="70105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54278" cy="7010527"/>
            </a:xfrm>
            <a:custGeom>
              <a:avLst/>
              <a:gdLst/>
              <a:ahLst/>
              <a:cxnLst/>
              <a:rect r="r" b="b" t="t" l="l"/>
              <a:pathLst>
                <a:path h="7010527" w="13654278">
                  <a:moveTo>
                    <a:pt x="0" y="701040"/>
                  </a:moveTo>
                  <a:cubicBezTo>
                    <a:pt x="0" y="313817"/>
                    <a:pt x="313817" y="0"/>
                    <a:pt x="701040" y="0"/>
                  </a:cubicBezTo>
                  <a:lnTo>
                    <a:pt x="12953238" y="0"/>
                  </a:lnTo>
                  <a:cubicBezTo>
                    <a:pt x="13340462" y="0"/>
                    <a:pt x="13654278" y="313817"/>
                    <a:pt x="13654278" y="701040"/>
                  </a:cubicBezTo>
                  <a:lnTo>
                    <a:pt x="13654278" y="6309487"/>
                  </a:lnTo>
                  <a:cubicBezTo>
                    <a:pt x="13654278" y="6696710"/>
                    <a:pt x="13340462" y="7010527"/>
                    <a:pt x="12953238" y="7010527"/>
                  </a:cubicBezTo>
                  <a:lnTo>
                    <a:pt x="701040" y="7010527"/>
                  </a:lnTo>
                  <a:cubicBezTo>
                    <a:pt x="313817" y="7010527"/>
                    <a:pt x="0" y="6696710"/>
                    <a:pt x="0" y="630948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CCEB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537032" y="2806827"/>
            <a:ext cx="5779522" cy="5257905"/>
            <a:chOff x="0" y="0"/>
            <a:chExt cx="7706030" cy="70105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05979" cy="7010527"/>
            </a:xfrm>
            <a:custGeom>
              <a:avLst/>
              <a:gdLst/>
              <a:ahLst/>
              <a:cxnLst/>
              <a:rect r="r" b="b" t="t" l="l"/>
              <a:pathLst>
                <a:path h="7010527" w="7705979">
                  <a:moveTo>
                    <a:pt x="0" y="701040"/>
                  </a:moveTo>
                  <a:cubicBezTo>
                    <a:pt x="0" y="313817"/>
                    <a:pt x="313817" y="0"/>
                    <a:pt x="701040" y="0"/>
                  </a:cubicBezTo>
                  <a:lnTo>
                    <a:pt x="7004939" y="0"/>
                  </a:lnTo>
                  <a:cubicBezTo>
                    <a:pt x="7392162" y="0"/>
                    <a:pt x="7705979" y="313817"/>
                    <a:pt x="7705979" y="701040"/>
                  </a:cubicBezTo>
                  <a:lnTo>
                    <a:pt x="7705979" y="6309487"/>
                  </a:lnTo>
                  <a:cubicBezTo>
                    <a:pt x="7705979" y="6696710"/>
                    <a:pt x="7392162" y="7010527"/>
                    <a:pt x="7004939" y="7010527"/>
                  </a:cubicBezTo>
                  <a:lnTo>
                    <a:pt x="701040" y="7010527"/>
                  </a:lnTo>
                  <a:cubicBezTo>
                    <a:pt x="313817" y="7010527"/>
                    <a:pt x="0" y="6696710"/>
                    <a:pt x="0" y="6309487"/>
                  </a:cubicBezTo>
                  <a:close/>
                </a:path>
              </a:pathLst>
            </a:custGeom>
            <a:blipFill>
              <a:blip r:embed="rId2"/>
              <a:stretch>
                <a:fillRect l="-2253" t="0" r="-2253" b="0"/>
              </a:stretch>
            </a:blipFill>
            <a:ln w="14299" cap="sq">
              <a:solidFill>
                <a:srgbClr val="DCCEB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8592912"/>
            <a:ext cx="16321649" cy="1098709"/>
            <a:chOff x="0" y="0"/>
            <a:chExt cx="21762199" cy="14649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213" cy="1465072"/>
            </a:xfrm>
            <a:custGeom>
              <a:avLst/>
              <a:gdLst/>
              <a:ahLst/>
              <a:cxnLst/>
              <a:rect r="r" b="b" t="t" l="l"/>
              <a:pathLst>
                <a:path h="1465072" w="21762213">
                  <a:moveTo>
                    <a:pt x="0" y="146558"/>
                  </a:moveTo>
                  <a:cubicBezTo>
                    <a:pt x="0" y="65532"/>
                    <a:pt x="65532" y="0"/>
                    <a:pt x="146558" y="0"/>
                  </a:cubicBezTo>
                  <a:lnTo>
                    <a:pt x="21615654" y="0"/>
                  </a:lnTo>
                  <a:cubicBezTo>
                    <a:pt x="21696553" y="0"/>
                    <a:pt x="21762213" y="65532"/>
                    <a:pt x="21762213" y="146558"/>
                  </a:cubicBezTo>
                  <a:lnTo>
                    <a:pt x="21762213" y="1318514"/>
                  </a:lnTo>
                  <a:cubicBezTo>
                    <a:pt x="21762213" y="1399413"/>
                    <a:pt x="21696680" y="1465072"/>
                    <a:pt x="21615654" y="1465072"/>
                  </a:cubicBezTo>
                  <a:lnTo>
                    <a:pt x="146558" y="1465072"/>
                  </a:lnTo>
                  <a:cubicBezTo>
                    <a:pt x="65532" y="1464945"/>
                    <a:pt x="0" y="1399413"/>
                    <a:pt x="0" y="1318514"/>
                  </a:cubicBezTo>
                  <a:close/>
                </a:path>
              </a:pathLst>
            </a:custGeom>
            <a:solidFill>
              <a:srgbClr val="F4EBDC"/>
            </a:solidFill>
            <a:ln w="14299" cap="sq">
              <a:solidFill>
                <a:srgbClr val="DCCEB8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828151" y="282178"/>
            <a:ext cx="10917374" cy="31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A32E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史料分析 / 二手资料调查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8151" y="751961"/>
            <a:ext cx="16408060" cy="75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阶段二｜1998年前后：品牌转型与市场竞争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9337" y="1663256"/>
            <a:ext cx="16270796" cy="61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研究焦点：以1998、1999年同期报刊为主，结合后期企业回顾，辨认市场转型与运动化消费的证据。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641337" y="342405"/>
            <a:ext cx="690963" cy="3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b="true" sz="1501" spc="29">
                <a:solidFill>
                  <a:srgbClr val="6F665D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4341" y="3151803"/>
            <a:ext cx="771773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2"/>
              </a:lnSpc>
            </a:pPr>
            <a:r>
              <a:rPr lang="en-US" b="true" sz="3452" spc="68">
                <a:solidFill>
                  <a:srgbClr val="973127"/>
                </a:solidFill>
                <a:latin typeface="Arimo Bold"/>
                <a:ea typeface="Arimo Bold"/>
                <a:cs typeface="Arimo Bold"/>
                <a:sym typeface="Arimo Bold"/>
              </a:rPr>
              <a:t>1998年前后：新车型、新竞争、新用途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9252" y="3861387"/>
            <a:ext cx="412392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b="true" sz="2401" spc="47">
                <a:solidFill>
                  <a:srgbClr val="973127"/>
                </a:solidFill>
                <a:latin typeface="Arimo Bold"/>
                <a:ea typeface="Arimo Bold"/>
                <a:cs typeface="Arimo Bold"/>
                <a:sym typeface="Arimo Bold"/>
              </a:rPr>
              <a:t>1998｜北京自行车国际博览会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6703" y="4244616"/>
            <a:ext cx="886298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2161">
                <a:solidFill>
                  <a:srgbClr val="2D2721"/>
                </a:solidFill>
                <a:latin typeface="Calibri (MS)"/>
                <a:ea typeface="Calibri (MS)"/>
                <a:cs typeface="Calibri (MS)"/>
                <a:sym typeface="Calibri (MS)"/>
              </a:rPr>
              <a:t>《北京自行车的方向》｜《北京日报》1998-06-13，第5版。记载北京出现自行车俱乐部，爱好者自行组装价值数千元的运动自行车。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9252" y="5137975"/>
            <a:ext cx="350192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b="true" sz="2401" spc="47">
                <a:solidFill>
                  <a:srgbClr val="973127"/>
                </a:solidFill>
                <a:latin typeface="Arimo Bold"/>
                <a:ea typeface="Arimo Bold"/>
                <a:cs typeface="Arimo Bold"/>
                <a:sym typeface="Arimo Bold"/>
              </a:rPr>
              <a:t>1999｜专业装备技术分层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6703" y="5521204"/>
            <a:ext cx="886298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2161">
                <a:solidFill>
                  <a:srgbClr val="2D2721"/>
                </a:solidFill>
                <a:latin typeface="Calibri (MS)"/>
                <a:ea typeface="Calibri (MS)"/>
                <a:cs typeface="Calibri (MS)"/>
                <a:sym typeface="Calibri (MS)"/>
              </a:rPr>
              <a:t>《自行车运动需要什么》｜《人民日报》1999-12-01，第8版。报道国产专业赛事装备与欧美先进装备仍有差距，并讨论碳纤维、钛合金等材料。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252" y="6414564"/>
            <a:ext cx="389354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b="true" sz="2401" spc="47">
                <a:solidFill>
                  <a:srgbClr val="973127"/>
                </a:solidFill>
                <a:latin typeface="Arimo Bold"/>
                <a:ea typeface="Arimo Bold"/>
                <a:cs typeface="Arimo Bold"/>
                <a:sym typeface="Arimo Bold"/>
              </a:rPr>
              <a:t>1994—1999｜传统企业承压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36703" y="6826358"/>
            <a:ext cx="8862984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2161" spc="43">
                <a:solidFill>
                  <a:srgbClr val="2D2721"/>
                </a:solidFill>
                <a:latin typeface="Arimo"/>
                <a:ea typeface="Arimo"/>
                <a:cs typeface="Arimo"/>
                <a:sym typeface="Arimo"/>
              </a:rPr>
              <a:t>2007年广州自行车工业访谈回顾：五羊曾开发10/18/21速山地车，后在1994—1999年遭遇销售压力。属于事后行业访谈，不是1998同期报道。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0481" y="8908904"/>
            <a:ext cx="1538318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351" b="true">
                <a:solidFill>
                  <a:srgbClr val="9731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证据链结论｜1998年前后，自行车由单一耐用品向多车型、多用途消费分化；传统名牌承压与国产产品改良并存。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151" y="282178"/>
            <a:ext cx="10917374" cy="31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A32E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史料分析 / 二手资料调查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8151" y="751961"/>
            <a:ext cx="16408060" cy="75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阶段三｜2010年前后：电动化与青年骑行文化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9337" y="1691831"/>
            <a:ext cx="16270796" cy="582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研究焦点：城市骑行出现两条并行方向——提高通勤效率的电动车，以及强调个性与社群的机械自行车。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16454" y="2395023"/>
            <a:ext cx="1030072" cy="69209"/>
            <a:chOff x="0" y="0"/>
            <a:chExt cx="1373429" cy="922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3378" cy="92329"/>
            </a:xfrm>
            <a:custGeom>
              <a:avLst/>
              <a:gdLst/>
              <a:ahLst/>
              <a:cxnLst/>
              <a:rect r="r" b="b" t="t" l="l"/>
              <a:pathLst>
                <a:path h="92329" w="1373378">
                  <a:moveTo>
                    <a:pt x="0" y="0"/>
                  </a:moveTo>
                  <a:lnTo>
                    <a:pt x="1373378" y="0"/>
                  </a:lnTo>
                  <a:lnTo>
                    <a:pt x="1373378" y="92329"/>
                  </a:lnTo>
                  <a:lnTo>
                    <a:pt x="0" y="92329"/>
                  </a:lnTo>
                  <a:close/>
                </a:path>
              </a:pathLst>
            </a:custGeom>
            <a:solidFill>
              <a:srgbClr val="A32E26"/>
            </a:solidFill>
            <a:ln w="14299" cap="sq">
              <a:solidFill>
                <a:srgbClr val="A32E26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900866" y="2408758"/>
            <a:ext cx="15594130" cy="33518"/>
            <a:chOff x="0" y="0"/>
            <a:chExt cx="20792173" cy="44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92187" cy="44704"/>
            </a:xfrm>
            <a:custGeom>
              <a:avLst/>
              <a:gdLst/>
              <a:ahLst/>
              <a:cxnLst/>
              <a:rect r="r" b="b" t="t" l="l"/>
              <a:pathLst>
                <a:path h="44704" w="20792187">
                  <a:moveTo>
                    <a:pt x="0" y="0"/>
                  </a:moveTo>
                  <a:lnTo>
                    <a:pt x="20792187" y="0"/>
                  </a:lnTo>
                  <a:lnTo>
                    <a:pt x="20792187" y="44704"/>
                  </a:lnTo>
                  <a:lnTo>
                    <a:pt x="0" y="44704"/>
                  </a:lnTo>
                  <a:close/>
                </a:path>
              </a:pathLst>
            </a:custGeom>
            <a:solidFill>
              <a:srgbClr val="DAD0C2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6641337" y="342405"/>
            <a:ext cx="690963" cy="3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b="true" sz="1501" spc="29">
                <a:solidFill>
                  <a:srgbClr val="6F665D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3719" y="2793101"/>
            <a:ext cx="7934620" cy="5065728"/>
            <a:chOff x="0" y="0"/>
            <a:chExt cx="10579494" cy="67543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79481" cy="6754368"/>
            </a:xfrm>
            <a:custGeom>
              <a:avLst/>
              <a:gdLst/>
              <a:ahLst/>
              <a:cxnLst/>
              <a:rect r="r" b="b" t="t" l="l"/>
              <a:pathLst>
                <a:path h="6754368" w="10579481">
                  <a:moveTo>
                    <a:pt x="0" y="540385"/>
                  </a:moveTo>
                  <a:cubicBezTo>
                    <a:pt x="0" y="241935"/>
                    <a:pt x="241935" y="0"/>
                    <a:pt x="540385" y="0"/>
                  </a:cubicBezTo>
                  <a:lnTo>
                    <a:pt x="10039096" y="0"/>
                  </a:lnTo>
                  <a:cubicBezTo>
                    <a:pt x="10337546" y="0"/>
                    <a:pt x="10579481" y="241935"/>
                    <a:pt x="10579481" y="540385"/>
                  </a:cubicBezTo>
                  <a:lnTo>
                    <a:pt x="10579481" y="6213983"/>
                  </a:lnTo>
                  <a:cubicBezTo>
                    <a:pt x="10579481" y="6512433"/>
                    <a:pt x="10337546" y="6754368"/>
                    <a:pt x="10039096" y="6754368"/>
                  </a:cubicBezTo>
                  <a:lnTo>
                    <a:pt x="540385" y="6754368"/>
                  </a:lnTo>
                  <a:cubicBezTo>
                    <a:pt x="241935" y="6754368"/>
                    <a:pt x="0" y="6512433"/>
                    <a:pt x="0" y="6213983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39314" y="3006157"/>
            <a:ext cx="7535970" cy="3526622"/>
            <a:chOff x="0" y="0"/>
            <a:chExt cx="10047961" cy="4702162"/>
          </a:xfrm>
        </p:grpSpPr>
        <p:sp>
          <p:nvSpPr>
            <p:cNvPr name="Freeform 13" id="13" descr="image6.jpg"/>
            <p:cNvSpPr/>
            <p:nvPr/>
          </p:nvSpPr>
          <p:spPr>
            <a:xfrm flipH="false" flipV="false" rot="0">
              <a:off x="0" y="0"/>
              <a:ext cx="10047986" cy="4702132"/>
            </a:xfrm>
            <a:custGeom>
              <a:avLst/>
              <a:gdLst/>
              <a:ahLst/>
              <a:cxnLst/>
              <a:rect r="r" b="b" t="t" l="l"/>
              <a:pathLst>
                <a:path h="4702132" w="10047986">
                  <a:moveTo>
                    <a:pt x="0" y="0"/>
                  </a:moveTo>
                  <a:lnTo>
                    <a:pt x="10047986" y="0"/>
                  </a:lnTo>
                  <a:lnTo>
                    <a:pt x="10047986" y="4702132"/>
                  </a:lnTo>
                  <a:lnTo>
                    <a:pt x="0" y="4702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133" r="0" b="-3013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08592" y="6608978"/>
            <a:ext cx="7266061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49">
                <a:solidFill>
                  <a:srgbClr val="282724"/>
                </a:solidFill>
                <a:latin typeface="Arimo Bold"/>
                <a:ea typeface="Arimo Bold"/>
                <a:cs typeface="Arimo Bold"/>
                <a:sym typeface="Arimo Bold"/>
              </a:rPr>
              <a:t>2007年10月：中国城市道路上的电动自行车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9224" y="7209053"/>
            <a:ext cx="7266061" cy="627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spc="23">
                <a:solidFill>
                  <a:srgbClr val="6F665D"/>
                </a:solidFill>
                <a:latin typeface="Arimo"/>
                <a:ea typeface="Arimo"/>
                <a:cs typeface="Arimo"/>
                <a:sym typeface="Arimo"/>
              </a:rPr>
              <a:t>S26 | Wikimedia Commons | 摄影 Andrew Gatt | CC BY 2.0</a:t>
            </a:r>
          </a:p>
          <a:p>
            <a:pPr algn="l">
              <a:lnSpc>
                <a:spcPts val="1441"/>
              </a:lnSpc>
            </a:pPr>
            <a:r>
              <a:rPr lang="en-US" sz="1200" spc="23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拍摄时间是2007年，作为2010年前后电动化趋势的邻近年代证据。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89758" y="2793101"/>
            <a:ext cx="8126797" cy="5065728"/>
            <a:chOff x="0" y="0"/>
            <a:chExt cx="10835729" cy="67543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35767" cy="6754368"/>
            </a:xfrm>
            <a:custGeom>
              <a:avLst/>
              <a:gdLst/>
              <a:ahLst/>
              <a:cxnLst/>
              <a:rect r="r" b="b" t="t" l="l"/>
              <a:pathLst>
                <a:path h="6754368" w="10835767">
                  <a:moveTo>
                    <a:pt x="0" y="540385"/>
                  </a:moveTo>
                  <a:cubicBezTo>
                    <a:pt x="0" y="241935"/>
                    <a:pt x="241935" y="0"/>
                    <a:pt x="540385" y="0"/>
                  </a:cubicBezTo>
                  <a:lnTo>
                    <a:pt x="10295382" y="0"/>
                  </a:lnTo>
                  <a:cubicBezTo>
                    <a:pt x="10593832" y="0"/>
                    <a:pt x="10835767" y="241935"/>
                    <a:pt x="10835767" y="540385"/>
                  </a:cubicBezTo>
                  <a:lnTo>
                    <a:pt x="10835767" y="6213983"/>
                  </a:lnTo>
                  <a:cubicBezTo>
                    <a:pt x="10835767" y="6512433"/>
                    <a:pt x="10593832" y="6754368"/>
                    <a:pt x="10295382" y="6754368"/>
                  </a:cubicBezTo>
                  <a:lnTo>
                    <a:pt x="540385" y="6754368"/>
                  </a:lnTo>
                  <a:cubicBezTo>
                    <a:pt x="241935" y="6754368"/>
                    <a:pt x="0" y="6512433"/>
                    <a:pt x="0" y="6213983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125770" y="3082357"/>
            <a:ext cx="5849371" cy="3469472"/>
            <a:chOff x="0" y="0"/>
            <a:chExt cx="10787411" cy="6398400"/>
          </a:xfrm>
        </p:grpSpPr>
        <p:sp>
          <p:nvSpPr>
            <p:cNvPr name="Freeform 19" id="19" descr="image7.jpg"/>
            <p:cNvSpPr/>
            <p:nvPr/>
          </p:nvSpPr>
          <p:spPr>
            <a:xfrm flipH="false" flipV="false" rot="0">
              <a:off x="0" y="0"/>
              <a:ext cx="10787344" cy="6398358"/>
            </a:xfrm>
            <a:custGeom>
              <a:avLst/>
              <a:gdLst/>
              <a:ahLst/>
              <a:cxnLst/>
              <a:rect r="r" b="b" t="t" l="l"/>
              <a:pathLst>
                <a:path h="6398358" w="10787344">
                  <a:moveTo>
                    <a:pt x="0" y="0"/>
                  </a:moveTo>
                  <a:lnTo>
                    <a:pt x="10787344" y="0"/>
                  </a:lnTo>
                  <a:lnTo>
                    <a:pt x="10787344" y="6398358"/>
                  </a:lnTo>
                  <a:lnTo>
                    <a:pt x="0" y="6398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223" r="0" b="-13224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009308" y="6656603"/>
            <a:ext cx="748568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49">
                <a:solidFill>
                  <a:srgbClr val="282724"/>
                </a:solidFill>
                <a:latin typeface="Arimo Bold"/>
                <a:ea typeface="Arimo Bold"/>
                <a:cs typeface="Arimo Bold"/>
                <a:sym typeface="Arimo Bold"/>
              </a:rPr>
              <a:t>2009年9月：固定齿轮自行车结构照片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09308" y="7132853"/>
            <a:ext cx="7485688" cy="627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spc="23">
                <a:solidFill>
                  <a:srgbClr val="6F665D"/>
                </a:solidFill>
                <a:latin typeface="Arimo"/>
                <a:ea typeface="Arimo"/>
                <a:cs typeface="Arimo"/>
                <a:sym typeface="Arimo"/>
              </a:rPr>
              <a:t>S27 | Wikimedia Commons | 摄影 Tom Jankowski | CC BY 2.0</a:t>
            </a:r>
          </a:p>
          <a:p>
            <a:pPr algn="l">
              <a:lnSpc>
                <a:spcPts val="1441"/>
              </a:lnSpc>
            </a:pPr>
            <a:r>
              <a:rPr lang="en-US" sz="1200" spc="23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拍摄地为加拿大，只用于车型结构，不作为广州街头实拍证据。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8700" y="8036709"/>
            <a:ext cx="7948346" cy="810444"/>
            <a:chOff x="0" y="0"/>
            <a:chExt cx="10597794" cy="10805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97896" cy="1080643"/>
            </a:xfrm>
            <a:custGeom>
              <a:avLst/>
              <a:gdLst/>
              <a:ahLst/>
              <a:cxnLst/>
              <a:rect r="r" b="b" t="t" l="l"/>
              <a:pathLst>
                <a:path h="1080643" w="10597896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10511409" y="0"/>
                  </a:lnTo>
                  <a:cubicBezTo>
                    <a:pt x="10559161" y="0"/>
                    <a:pt x="10597896" y="38735"/>
                    <a:pt x="10597896" y="86487"/>
                  </a:cubicBezTo>
                  <a:lnTo>
                    <a:pt x="10597896" y="994156"/>
                  </a:lnTo>
                  <a:cubicBezTo>
                    <a:pt x="10597896" y="1041908"/>
                    <a:pt x="10559161" y="1080643"/>
                    <a:pt x="10511409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427436" y="8221551"/>
            <a:ext cx="690963" cy="3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32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S14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85073" y="8138065"/>
            <a:ext cx="670326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《死飞单车广州街头一车难求》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53749" y="8546782"/>
            <a:ext cx="6703266" cy="335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《广州日报》经和讯网转载｜2010-03-23｜反映青年骑行品类流行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230935" y="8036709"/>
            <a:ext cx="8085611" cy="810444"/>
            <a:chOff x="0" y="0"/>
            <a:chExt cx="10780814" cy="10805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80903" cy="1080643"/>
            </a:xfrm>
            <a:custGeom>
              <a:avLst/>
              <a:gdLst/>
              <a:ahLst/>
              <a:cxnLst/>
              <a:rect r="r" b="b" t="t" l="l"/>
              <a:pathLst>
                <a:path h="1080643" w="10780903">
                  <a:moveTo>
                    <a:pt x="0" y="86487"/>
                  </a:moveTo>
                  <a:cubicBezTo>
                    <a:pt x="0" y="38735"/>
                    <a:pt x="38735" y="0"/>
                    <a:pt x="86487" y="0"/>
                  </a:cubicBezTo>
                  <a:lnTo>
                    <a:pt x="10694416" y="0"/>
                  </a:lnTo>
                  <a:cubicBezTo>
                    <a:pt x="10742168" y="0"/>
                    <a:pt x="10780903" y="38735"/>
                    <a:pt x="10780903" y="86487"/>
                  </a:cubicBezTo>
                  <a:lnTo>
                    <a:pt x="10780903" y="994156"/>
                  </a:lnTo>
                  <a:cubicBezTo>
                    <a:pt x="10780903" y="1041908"/>
                    <a:pt x="10742168" y="1080643"/>
                    <a:pt x="10694416" y="1080643"/>
                  </a:cubicBezTo>
                  <a:lnTo>
                    <a:pt x="86487" y="1080643"/>
                  </a:lnTo>
                  <a:cubicBezTo>
                    <a:pt x="38735" y="1080643"/>
                    <a:pt x="0" y="1041908"/>
                    <a:pt x="0" y="994156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9434808" y="8262728"/>
            <a:ext cx="690963" cy="3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32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S13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89778" y="8138065"/>
            <a:ext cx="684053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《电动自行车在争议中提速》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89778" y="8537257"/>
            <a:ext cx="6840531" cy="335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人民网｜2008-01-03｜记录电动车普及与管理争议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53719" y="9053398"/>
            <a:ext cx="16404003" cy="700630"/>
            <a:chOff x="0" y="0"/>
            <a:chExt cx="21872004" cy="93417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871939" cy="934085"/>
            </a:xfrm>
            <a:custGeom>
              <a:avLst/>
              <a:gdLst/>
              <a:ahLst/>
              <a:cxnLst/>
              <a:rect r="r" b="b" t="t" l="l"/>
              <a:pathLst>
                <a:path h="934085" w="21871939">
                  <a:moveTo>
                    <a:pt x="0" y="74676"/>
                  </a:moveTo>
                  <a:cubicBezTo>
                    <a:pt x="0" y="33401"/>
                    <a:pt x="33401" y="0"/>
                    <a:pt x="74676" y="0"/>
                  </a:cubicBezTo>
                  <a:lnTo>
                    <a:pt x="21797263" y="0"/>
                  </a:lnTo>
                  <a:cubicBezTo>
                    <a:pt x="21838538" y="0"/>
                    <a:pt x="21871939" y="33401"/>
                    <a:pt x="21871939" y="74676"/>
                  </a:cubicBezTo>
                  <a:lnTo>
                    <a:pt x="21871939" y="859409"/>
                  </a:lnTo>
                  <a:cubicBezTo>
                    <a:pt x="21871939" y="900684"/>
                    <a:pt x="21838538" y="934085"/>
                    <a:pt x="21797263" y="934085"/>
                  </a:cubicBezTo>
                  <a:lnTo>
                    <a:pt x="74676" y="934085"/>
                  </a:lnTo>
                  <a:cubicBezTo>
                    <a:pt x="33401" y="934212"/>
                    <a:pt x="0" y="900684"/>
                    <a:pt x="0" y="859409"/>
                  </a:cubicBezTo>
                  <a:close/>
                </a:path>
              </a:pathLst>
            </a:custGeom>
            <a:solidFill>
              <a:srgbClr val="282724"/>
            </a:solidFill>
            <a:ln w="14299" cap="sq">
              <a:solidFill>
                <a:srgbClr val="282724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427436" y="9158173"/>
            <a:ext cx="203759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本阶段结论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450275" y="9170351"/>
            <a:ext cx="1414314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电动化与运动化不是先后替代关系，而是围绕不同需求并行发展。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151" y="282178"/>
            <a:ext cx="10917374" cy="31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A32E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史料分析 / 二手资料调查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8151" y="751961"/>
            <a:ext cx="16408060" cy="75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阶段四｜2026年当下：使用权、劳动与骑行消费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9337" y="1691831"/>
            <a:ext cx="16270796" cy="582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研究焦点：不能把2016年之后概括为“只有共享单车”；共享出行、配送与专业骑行共同构成当代图景。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16454" y="2395023"/>
            <a:ext cx="1030072" cy="69209"/>
            <a:chOff x="0" y="0"/>
            <a:chExt cx="1373429" cy="922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3378" cy="92329"/>
            </a:xfrm>
            <a:custGeom>
              <a:avLst/>
              <a:gdLst/>
              <a:ahLst/>
              <a:cxnLst/>
              <a:rect r="r" b="b" t="t" l="l"/>
              <a:pathLst>
                <a:path h="92329" w="1373378">
                  <a:moveTo>
                    <a:pt x="0" y="0"/>
                  </a:moveTo>
                  <a:lnTo>
                    <a:pt x="1373378" y="0"/>
                  </a:lnTo>
                  <a:lnTo>
                    <a:pt x="1373378" y="92329"/>
                  </a:lnTo>
                  <a:lnTo>
                    <a:pt x="0" y="92329"/>
                  </a:lnTo>
                  <a:close/>
                </a:path>
              </a:pathLst>
            </a:custGeom>
            <a:solidFill>
              <a:srgbClr val="A32E26"/>
            </a:solidFill>
            <a:ln w="14299" cap="sq">
              <a:solidFill>
                <a:srgbClr val="A32E26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900866" y="2408758"/>
            <a:ext cx="15594130" cy="33518"/>
            <a:chOff x="0" y="0"/>
            <a:chExt cx="20792173" cy="44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92187" cy="44704"/>
            </a:xfrm>
            <a:custGeom>
              <a:avLst/>
              <a:gdLst/>
              <a:ahLst/>
              <a:cxnLst/>
              <a:rect r="r" b="b" t="t" l="l"/>
              <a:pathLst>
                <a:path h="44704" w="20792187">
                  <a:moveTo>
                    <a:pt x="0" y="0"/>
                  </a:moveTo>
                  <a:lnTo>
                    <a:pt x="20792187" y="0"/>
                  </a:lnTo>
                  <a:lnTo>
                    <a:pt x="20792187" y="44704"/>
                  </a:lnTo>
                  <a:lnTo>
                    <a:pt x="0" y="44704"/>
                  </a:lnTo>
                  <a:close/>
                </a:path>
              </a:pathLst>
            </a:custGeom>
            <a:solidFill>
              <a:srgbClr val="DAD0C2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6641337" y="342405"/>
            <a:ext cx="690963" cy="3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b="true" sz="1501" spc="29">
                <a:solidFill>
                  <a:srgbClr val="6F665D"/>
                </a:solidFill>
                <a:latin typeface="Arimo Bold"/>
                <a:ea typeface="Arimo Bold"/>
                <a:cs typeface="Arimo Bold"/>
                <a:sym typeface="Arimo Bold"/>
              </a:rPr>
              <a:t>06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3719" y="2806827"/>
            <a:ext cx="8524865" cy="5120640"/>
            <a:chOff x="0" y="0"/>
            <a:chExt cx="11366487" cy="6827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665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1366500">
                  <a:moveTo>
                    <a:pt x="0" y="546227"/>
                  </a:moveTo>
                  <a:cubicBezTo>
                    <a:pt x="0" y="244602"/>
                    <a:pt x="244602" y="0"/>
                    <a:pt x="546227" y="0"/>
                  </a:cubicBezTo>
                  <a:lnTo>
                    <a:pt x="10820273" y="0"/>
                  </a:lnTo>
                  <a:cubicBezTo>
                    <a:pt x="11121898" y="0"/>
                    <a:pt x="11366500" y="244602"/>
                    <a:pt x="11366500" y="546227"/>
                  </a:cubicBezTo>
                  <a:lnTo>
                    <a:pt x="11366500" y="6281293"/>
                  </a:lnTo>
                  <a:cubicBezTo>
                    <a:pt x="11366500" y="6582918"/>
                    <a:pt x="11121898" y="6827520"/>
                    <a:pt x="10820273" y="6827520"/>
                  </a:cubicBezTo>
                  <a:lnTo>
                    <a:pt x="546227" y="6827520"/>
                  </a:lnTo>
                  <a:cubicBezTo>
                    <a:pt x="244602" y="6827520"/>
                    <a:pt x="0" y="6582918"/>
                    <a:pt x="0" y="6281293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617260" y="3101892"/>
            <a:ext cx="4579094" cy="3528184"/>
            <a:chOff x="0" y="0"/>
            <a:chExt cx="10798353" cy="8320112"/>
          </a:xfrm>
        </p:grpSpPr>
        <p:sp>
          <p:nvSpPr>
            <p:cNvPr name="Freeform 13" id="13" descr="image9.jpg"/>
            <p:cNvSpPr/>
            <p:nvPr/>
          </p:nvSpPr>
          <p:spPr>
            <a:xfrm flipH="false" flipV="false" rot="0">
              <a:off x="0" y="0"/>
              <a:ext cx="10798302" cy="8320163"/>
            </a:xfrm>
            <a:custGeom>
              <a:avLst/>
              <a:gdLst/>
              <a:ahLst/>
              <a:cxnLst/>
              <a:rect r="r" b="b" t="t" l="l"/>
              <a:pathLst>
                <a:path h="8320163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320163"/>
                  </a:lnTo>
                  <a:lnTo>
                    <a:pt x="0" y="8320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66" t="0" r="-1367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278561" y="6759040"/>
            <a:ext cx="791121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49">
                <a:solidFill>
                  <a:srgbClr val="282724"/>
                </a:solidFill>
                <a:latin typeface="Arimo Bold"/>
                <a:ea typeface="Arimo Bold"/>
                <a:cs typeface="Arimo Bold"/>
                <a:sym typeface="Arimo Bold"/>
              </a:rPr>
              <a:t>2024年1月24日：北京街头共享单车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62926" y="7211854"/>
            <a:ext cx="7911217" cy="627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spc="23">
                <a:solidFill>
                  <a:srgbClr val="6F665D"/>
                </a:solidFill>
                <a:latin typeface="Arimo"/>
                <a:ea typeface="Arimo"/>
                <a:cs typeface="Arimo"/>
                <a:sym typeface="Arimo"/>
              </a:rPr>
              <a:t>S29 | Wikimedia Commons | 摄影 CNHowey | CC0</a:t>
            </a:r>
          </a:p>
          <a:p>
            <a:pPr algn="l">
              <a:lnSpc>
                <a:spcPts val="1441"/>
              </a:lnSpc>
            </a:pPr>
            <a:r>
              <a:rPr lang="en-US" sz="1200" spc="23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注意：这是2024年实景，作为2026年前后的最近期图像参考，不称2026年拍摄。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793729" y="2806827"/>
            <a:ext cx="7536542" cy="5120640"/>
            <a:chOff x="0" y="0"/>
            <a:chExt cx="10048723" cy="6827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48748" cy="6827520"/>
            </a:xfrm>
            <a:custGeom>
              <a:avLst/>
              <a:gdLst/>
              <a:ahLst/>
              <a:cxnLst/>
              <a:rect r="r" b="b" t="t" l="l"/>
              <a:pathLst>
                <a:path h="6827520" w="10048748">
                  <a:moveTo>
                    <a:pt x="0" y="546227"/>
                  </a:moveTo>
                  <a:cubicBezTo>
                    <a:pt x="0" y="244602"/>
                    <a:pt x="244602" y="0"/>
                    <a:pt x="546227" y="0"/>
                  </a:cubicBezTo>
                  <a:lnTo>
                    <a:pt x="9502521" y="0"/>
                  </a:lnTo>
                  <a:cubicBezTo>
                    <a:pt x="9804146" y="0"/>
                    <a:pt x="10048748" y="244602"/>
                    <a:pt x="10048748" y="546227"/>
                  </a:cubicBezTo>
                  <a:lnTo>
                    <a:pt x="10048748" y="6281293"/>
                  </a:lnTo>
                  <a:cubicBezTo>
                    <a:pt x="10048748" y="6582918"/>
                    <a:pt x="9804146" y="6827520"/>
                    <a:pt x="9502521" y="6827520"/>
                  </a:cubicBezTo>
                  <a:lnTo>
                    <a:pt x="546227" y="6827520"/>
                  </a:lnTo>
                  <a:cubicBezTo>
                    <a:pt x="244602" y="6827520"/>
                    <a:pt x="0" y="6582918"/>
                    <a:pt x="0" y="6281293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081993" y="3081366"/>
            <a:ext cx="2938091" cy="453552"/>
            <a:chOff x="0" y="0"/>
            <a:chExt cx="3917455" cy="6047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17442" cy="604774"/>
            </a:xfrm>
            <a:custGeom>
              <a:avLst/>
              <a:gdLst/>
              <a:ahLst/>
              <a:cxnLst/>
              <a:rect r="r" b="b" t="t" l="l"/>
              <a:pathLst>
                <a:path h="604774" w="3917442">
                  <a:moveTo>
                    <a:pt x="0" y="48387"/>
                  </a:moveTo>
                  <a:cubicBezTo>
                    <a:pt x="0" y="21717"/>
                    <a:pt x="21717" y="0"/>
                    <a:pt x="48387" y="0"/>
                  </a:cubicBezTo>
                  <a:lnTo>
                    <a:pt x="3869055" y="0"/>
                  </a:lnTo>
                  <a:cubicBezTo>
                    <a:pt x="3895725" y="0"/>
                    <a:pt x="3917442" y="21717"/>
                    <a:pt x="3917442" y="48387"/>
                  </a:cubicBezTo>
                  <a:lnTo>
                    <a:pt x="3917442" y="556387"/>
                  </a:lnTo>
                  <a:cubicBezTo>
                    <a:pt x="3917442" y="583057"/>
                    <a:pt x="3895725" y="604774"/>
                    <a:pt x="3869055" y="604774"/>
                  </a:cubicBezTo>
                  <a:lnTo>
                    <a:pt x="48387" y="604774"/>
                  </a:lnTo>
                  <a:cubicBezTo>
                    <a:pt x="21717" y="604774"/>
                    <a:pt x="0" y="583057"/>
                    <a:pt x="0" y="556387"/>
                  </a:cubicBezTo>
                  <a:close/>
                </a:path>
              </a:pathLst>
            </a:custGeom>
            <a:solidFill>
              <a:srgbClr val="A32E26"/>
            </a:solidFill>
            <a:ln w="14299" cap="sq">
              <a:solidFill>
                <a:srgbClr val="A32E26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0203504" y="3159042"/>
            <a:ext cx="234404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</a:pPr>
            <a:r>
              <a:rPr lang="en-US" b="true" sz="1901" spc="3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2025—2026文字证据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89778" y="3815267"/>
            <a:ext cx="677237" cy="3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32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S17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13386" y="3786692"/>
            <a:ext cx="586593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骑行热带动自行车消费升级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013386" y="4231272"/>
            <a:ext cx="5426678" cy="266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新华网｜2025-03-23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89778" y="4721228"/>
            <a:ext cx="677237" cy="3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32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S19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013386" y="4692653"/>
            <a:ext cx="586593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电动自行车安全技术规范新标准解读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013386" y="5137233"/>
            <a:ext cx="5426678" cy="266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中国政府网｜2025-02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189778" y="5627189"/>
            <a:ext cx="677237" cy="3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32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S21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13386" y="5598614"/>
            <a:ext cx="586593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共享单车运营与治理信息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13386" y="6043193"/>
            <a:ext cx="5426678" cy="266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北京市交通委员会｜2025-10-31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89778" y="6533159"/>
            <a:ext cx="677237" cy="3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651" spc="32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S22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013386" y="6504584"/>
            <a:ext cx="586593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骑行消费新场景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013386" y="6949164"/>
            <a:ext cx="5426678" cy="266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新华网四川频道｜2026-10-19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22356" y="8201435"/>
            <a:ext cx="16266738" cy="714365"/>
            <a:chOff x="0" y="0"/>
            <a:chExt cx="21688984" cy="95248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688933" cy="952500"/>
            </a:xfrm>
            <a:custGeom>
              <a:avLst/>
              <a:gdLst/>
              <a:ahLst/>
              <a:cxnLst/>
              <a:rect r="r" b="b" t="t" l="l"/>
              <a:pathLst>
                <a:path h="952500" w="21688933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1612733" y="0"/>
                  </a:lnTo>
                  <a:cubicBezTo>
                    <a:pt x="21654771" y="0"/>
                    <a:pt x="21688933" y="34163"/>
                    <a:pt x="21688933" y="76200"/>
                  </a:cubicBezTo>
                  <a:lnTo>
                    <a:pt x="21688933" y="876300"/>
                  </a:lnTo>
                  <a:cubicBezTo>
                    <a:pt x="21688933" y="918337"/>
                    <a:pt x="21654771" y="952500"/>
                    <a:pt x="21612733" y="952500"/>
                  </a:cubicBezTo>
                  <a:lnTo>
                    <a:pt x="76200" y="952500"/>
                  </a:lnTo>
                  <a:cubicBezTo>
                    <a:pt x="34163" y="952500"/>
                    <a:pt x="0" y="918337"/>
                    <a:pt x="0" y="876300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489038" y="8368117"/>
            <a:ext cx="1530992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A32E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特别说明：2026年“当下”是分析时点，而非所有图片的拍摄日期；资料来源日期均单独标注。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53719" y="9011307"/>
            <a:ext cx="16404003" cy="700630"/>
            <a:chOff x="0" y="0"/>
            <a:chExt cx="21872004" cy="93417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871939" cy="934085"/>
            </a:xfrm>
            <a:custGeom>
              <a:avLst/>
              <a:gdLst/>
              <a:ahLst/>
              <a:cxnLst/>
              <a:rect r="r" b="b" t="t" l="l"/>
              <a:pathLst>
                <a:path h="934085" w="21871939">
                  <a:moveTo>
                    <a:pt x="0" y="74676"/>
                  </a:moveTo>
                  <a:cubicBezTo>
                    <a:pt x="0" y="33401"/>
                    <a:pt x="33401" y="0"/>
                    <a:pt x="74676" y="0"/>
                  </a:cubicBezTo>
                  <a:lnTo>
                    <a:pt x="21797263" y="0"/>
                  </a:lnTo>
                  <a:cubicBezTo>
                    <a:pt x="21838538" y="0"/>
                    <a:pt x="21871939" y="33401"/>
                    <a:pt x="21871939" y="74676"/>
                  </a:cubicBezTo>
                  <a:lnTo>
                    <a:pt x="21871939" y="859409"/>
                  </a:lnTo>
                  <a:cubicBezTo>
                    <a:pt x="21871939" y="900684"/>
                    <a:pt x="21838538" y="934085"/>
                    <a:pt x="21797263" y="934085"/>
                  </a:cubicBezTo>
                  <a:lnTo>
                    <a:pt x="74676" y="934085"/>
                  </a:lnTo>
                  <a:cubicBezTo>
                    <a:pt x="33401" y="934212"/>
                    <a:pt x="0" y="900684"/>
                    <a:pt x="0" y="859409"/>
                  </a:cubicBezTo>
                  <a:close/>
                </a:path>
              </a:pathLst>
            </a:custGeom>
            <a:solidFill>
              <a:srgbClr val="282724"/>
            </a:solidFill>
            <a:ln w="14299" cap="sq">
              <a:solidFill>
                <a:srgbClr val="282724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1308592" y="9126388"/>
            <a:ext cx="162106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本阶段结论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187122" y="9144400"/>
            <a:ext cx="1414314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自行车从“拥有”拓展为“使用服务”，同时保留劳动工具与专业消费多重角色。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151" y="282178"/>
            <a:ext cx="10917374" cy="31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A32E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史料分析 / 二手资料调查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8151" y="751961"/>
            <a:ext cx="16408060" cy="75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四阶段对照：每个结论都能回溯到具体证据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9337" y="1691831"/>
            <a:ext cx="16270796" cy="582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把报刊事件时间、图像时间、材料类型与研究结论分栏呈现，避免“有图但对不上年代、有文字但没有来源”。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16454" y="2395023"/>
            <a:ext cx="1030072" cy="69209"/>
            <a:chOff x="0" y="0"/>
            <a:chExt cx="1373429" cy="922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3378" cy="92329"/>
            </a:xfrm>
            <a:custGeom>
              <a:avLst/>
              <a:gdLst/>
              <a:ahLst/>
              <a:cxnLst/>
              <a:rect r="r" b="b" t="t" l="l"/>
              <a:pathLst>
                <a:path h="92329" w="1373378">
                  <a:moveTo>
                    <a:pt x="0" y="0"/>
                  </a:moveTo>
                  <a:lnTo>
                    <a:pt x="1373378" y="0"/>
                  </a:lnTo>
                  <a:lnTo>
                    <a:pt x="1373378" y="92329"/>
                  </a:lnTo>
                  <a:lnTo>
                    <a:pt x="0" y="92329"/>
                  </a:lnTo>
                  <a:close/>
                </a:path>
              </a:pathLst>
            </a:custGeom>
            <a:solidFill>
              <a:srgbClr val="A32E26"/>
            </a:solidFill>
            <a:ln w="14299" cap="sq">
              <a:solidFill>
                <a:srgbClr val="A32E26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900866" y="2408758"/>
            <a:ext cx="15594130" cy="33518"/>
            <a:chOff x="0" y="0"/>
            <a:chExt cx="20792173" cy="44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92187" cy="44704"/>
            </a:xfrm>
            <a:custGeom>
              <a:avLst/>
              <a:gdLst/>
              <a:ahLst/>
              <a:cxnLst/>
              <a:rect r="r" b="b" t="t" l="l"/>
              <a:pathLst>
                <a:path h="44704" w="20792187">
                  <a:moveTo>
                    <a:pt x="0" y="0"/>
                  </a:moveTo>
                  <a:lnTo>
                    <a:pt x="20792187" y="0"/>
                  </a:lnTo>
                  <a:lnTo>
                    <a:pt x="20792187" y="44704"/>
                  </a:lnTo>
                  <a:lnTo>
                    <a:pt x="0" y="44704"/>
                  </a:lnTo>
                  <a:close/>
                </a:path>
              </a:pathLst>
            </a:custGeom>
            <a:solidFill>
              <a:srgbClr val="DAD0C2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6641337" y="342405"/>
            <a:ext cx="690963" cy="3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b="true" sz="1501" spc="29">
                <a:solidFill>
                  <a:srgbClr val="6F665D"/>
                </a:solidFill>
                <a:latin typeface="Arimo Bold"/>
                <a:ea typeface="Arimo Bold"/>
                <a:cs typeface="Arimo Bold"/>
                <a:sym typeface="Arimo Bold"/>
              </a:rPr>
              <a:t>07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67445" y="2820553"/>
            <a:ext cx="2292934" cy="673179"/>
            <a:chOff x="0" y="0"/>
            <a:chExt cx="3057246" cy="897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57271" cy="897636"/>
            </a:xfrm>
            <a:custGeom>
              <a:avLst/>
              <a:gdLst/>
              <a:ahLst/>
              <a:cxnLst/>
              <a:rect r="r" b="b" t="t" l="l"/>
              <a:pathLst>
                <a:path h="897636" w="3057271">
                  <a:moveTo>
                    <a:pt x="0" y="0"/>
                  </a:moveTo>
                  <a:lnTo>
                    <a:pt x="3057271" y="0"/>
                  </a:lnTo>
                  <a:lnTo>
                    <a:pt x="3057271" y="897636"/>
                  </a:lnTo>
                  <a:lnTo>
                    <a:pt x="0" y="897636"/>
                  </a:lnTo>
                  <a:close/>
                </a:path>
              </a:pathLst>
            </a:custGeom>
            <a:solidFill>
              <a:srgbClr val="A32E26"/>
            </a:solidFill>
            <a:ln w="14299" cap="sq">
              <a:solidFill>
                <a:srgbClr val="A32E26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157592" y="2982135"/>
            <a:ext cx="1940090" cy="30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历史节点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273533" y="2820553"/>
            <a:ext cx="4887287" cy="673179"/>
            <a:chOff x="0" y="0"/>
            <a:chExt cx="6516383" cy="8975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16370" cy="897636"/>
            </a:xfrm>
            <a:custGeom>
              <a:avLst/>
              <a:gdLst/>
              <a:ahLst/>
              <a:cxnLst/>
              <a:rect r="r" b="b" t="t" l="l"/>
              <a:pathLst>
                <a:path h="897636" w="6516370">
                  <a:moveTo>
                    <a:pt x="0" y="0"/>
                  </a:moveTo>
                  <a:lnTo>
                    <a:pt x="6516370" y="0"/>
                  </a:lnTo>
                  <a:lnTo>
                    <a:pt x="6516370" y="897636"/>
                  </a:lnTo>
                  <a:lnTo>
                    <a:pt x="0" y="897636"/>
                  </a:lnTo>
                  <a:close/>
                </a:path>
              </a:pathLst>
            </a:custGeom>
            <a:solidFill>
              <a:srgbClr val="282724"/>
            </a:solidFill>
            <a:ln w="14299" cap="sq">
              <a:solidFill>
                <a:srgbClr val="282724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3463681" y="2982135"/>
            <a:ext cx="4534443" cy="30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同期/近同期文字证据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173974" y="2820553"/>
            <a:ext cx="4818650" cy="673179"/>
            <a:chOff x="0" y="0"/>
            <a:chExt cx="6424866" cy="8975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24930" cy="897636"/>
            </a:xfrm>
            <a:custGeom>
              <a:avLst/>
              <a:gdLst/>
              <a:ahLst/>
              <a:cxnLst/>
              <a:rect r="r" b="b" t="t" l="l"/>
              <a:pathLst>
                <a:path h="897636" w="6424930">
                  <a:moveTo>
                    <a:pt x="0" y="0"/>
                  </a:moveTo>
                  <a:lnTo>
                    <a:pt x="6424930" y="0"/>
                  </a:lnTo>
                  <a:lnTo>
                    <a:pt x="6424930" y="897636"/>
                  </a:lnTo>
                  <a:lnTo>
                    <a:pt x="0" y="897636"/>
                  </a:lnTo>
                  <a:close/>
                </a:path>
              </a:pathLst>
            </a:custGeom>
            <a:solidFill>
              <a:srgbClr val="282724"/>
            </a:solidFill>
            <a:ln w="14299" cap="sq">
              <a:solidFill>
                <a:srgbClr val="282724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8364122" y="2982135"/>
            <a:ext cx="4465815" cy="30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图像时间与性质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005787" y="2820553"/>
            <a:ext cx="4297032" cy="673179"/>
            <a:chOff x="0" y="0"/>
            <a:chExt cx="5729376" cy="8975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29351" cy="897636"/>
            </a:xfrm>
            <a:custGeom>
              <a:avLst/>
              <a:gdLst/>
              <a:ahLst/>
              <a:cxnLst/>
              <a:rect r="r" b="b" t="t" l="l"/>
              <a:pathLst>
                <a:path h="897636" w="5729351">
                  <a:moveTo>
                    <a:pt x="0" y="0"/>
                  </a:moveTo>
                  <a:lnTo>
                    <a:pt x="5729351" y="0"/>
                  </a:lnTo>
                  <a:lnTo>
                    <a:pt x="5729351" y="897636"/>
                  </a:lnTo>
                  <a:lnTo>
                    <a:pt x="0" y="897636"/>
                  </a:lnTo>
                  <a:close/>
                </a:path>
              </a:pathLst>
            </a:custGeom>
            <a:solidFill>
              <a:srgbClr val="282724"/>
            </a:solidFill>
            <a:ln w="14299" cap="sq">
              <a:solidFill>
                <a:srgbClr val="282724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195935" y="2982135"/>
            <a:ext cx="3944198" cy="30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经过限定的研究认识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7445" y="3520621"/>
            <a:ext cx="2292934" cy="1222248"/>
            <a:chOff x="0" y="0"/>
            <a:chExt cx="3057246" cy="16296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57271" cy="1629664"/>
            </a:xfrm>
            <a:custGeom>
              <a:avLst/>
              <a:gdLst/>
              <a:ahLst/>
              <a:cxnLst/>
              <a:rect r="r" b="b" t="t" l="l"/>
              <a:pathLst>
                <a:path h="1629664" w="3057271">
                  <a:moveTo>
                    <a:pt x="0" y="0"/>
                  </a:moveTo>
                  <a:lnTo>
                    <a:pt x="3057271" y="0"/>
                  </a:lnTo>
                  <a:lnTo>
                    <a:pt x="3057271" y="1629664"/>
                  </a:lnTo>
                  <a:lnTo>
                    <a:pt x="0" y="1629664"/>
                  </a:ln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171318" y="3742430"/>
            <a:ext cx="191263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39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1978—1985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273533" y="3520621"/>
            <a:ext cx="4887287" cy="1222248"/>
            <a:chOff x="0" y="0"/>
            <a:chExt cx="6516383" cy="16296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16370" cy="1629664"/>
            </a:xfrm>
            <a:custGeom>
              <a:avLst/>
              <a:gdLst/>
              <a:ahLst/>
              <a:cxnLst/>
              <a:rect r="r" b="b" t="t" l="l"/>
              <a:pathLst>
                <a:path h="1629664" w="6516370">
                  <a:moveTo>
                    <a:pt x="0" y="0"/>
                  </a:moveTo>
                  <a:lnTo>
                    <a:pt x="6516370" y="0"/>
                  </a:lnTo>
                  <a:lnTo>
                    <a:pt x="6516370" y="1629664"/>
                  </a:lnTo>
                  <a:lnTo>
                    <a:pt x="0" y="1629664"/>
                  </a:ln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3477416" y="3742430"/>
            <a:ext cx="450699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39">
                <a:solidFill>
                  <a:srgbClr val="282724"/>
                </a:solidFill>
                <a:latin typeface="Arimo"/>
                <a:ea typeface="Arimo"/>
                <a:cs typeface="Arimo"/>
                <a:sym typeface="Arimo"/>
              </a:rPr>
              <a:t>S03 1980报刊；S04 1985报刊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173974" y="3520621"/>
            <a:ext cx="4818650" cy="1222248"/>
            <a:chOff x="0" y="0"/>
            <a:chExt cx="6424866" cy="16296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24930" cy="1629664"/>
            </a:xfrm>
            <a:custGeom>
              <a:avLst/>
              <a:gdLst/>
              <a:ahLst/>
              <a:cxnLst/>
              <a:rect r="r" b="b" t="t" l="l"/>
              <a:pathLst>
                <a:path h="1629664" w="6424930">
                  <a:moveTo>
                    <a:pt x="0" y="0"/>
                  </a:moveTo>
                  <a:lnTo>
                    <a:pt x="6424930" y="0"/>
                  </a:lnTo>
                  <a:lnTo>
                    <a:pt x="6424930" y="1629664"/>
                  </a:lnTo>
                  <a:lnTo>
                    <a:pt x="0" y="1629664"/>
                  </a:ln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8377857" y="3742430"/>
            <a:ext cx="443835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39">
                <a:solidFill>
                  <a:srgbClr val="282724"/>
                </a:solidFill>
                <a:latin typeface="Arimo"/>
                <a:ea typeface="Arimo"/>
                <a:cs typeface="Arimo"/>
                <a:sym typeface="Arimo"/>
              </a:rPr>
              <a:t>S23/S24：1978北京街景，真实同期影像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005787" y="3520621"/>
            <a:ext cx="4297032" cy="1222248"/>
            <a:chOff x="0" y="0"/>
            <a:chExt cx="5729376" cy="16296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29351" cy="1629664"/>
            </a:xfrm>
            <a:custGeom>
              <a:avLst/>
              <a:gdLst/>
              <a:ahLst/>
              <a:cxnLst/>
              <a:rect r="r" b="b" t="t" l="l"/>
              <a:pathLst>
                <a:path h="1629664" w="5729351">
                  <a:moveTo>
                    <a:pt x="0" y="0"/>
                  </a:moveTo>
                  <a:lnTo>
                    <a:pt x="5729351" y="0"/>
                  </a:lnTo>
                  <a:lnTo>
                    <a:pt x="5729351" y="1629664"/>
                  </a:lnTo>
                  <a:lnTo>
                    <a:pt x="0" y="1629664"/>
                  </a:ln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3209661" y="3713855"/>
            <a:ext cx="391674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82724"/>
                </a:solidFill>
                <a:latin typeface="Calibri (MS)"/>
                <a:ea typeface="Calibri (MS)"/>
                <a:cs typeface="Calibri (MS)"/>
                <a:sym typeface="Calibri (MS)"/>
              </a:rPr>
              <a:t>珍贵耐用品与供销变化并存。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7445" y="4783474"/>
            <a:ext cx="2292934" cy="1222248"/>
            <a:chOff x="0" y="0"/>
            <a:chExt cx="3057246" cy="16296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57271" cy="1629664"/>
            </a:xfrm>
            <a:custGeom>
              <a:avLst/>
              <a:gdLst/>
              <a:ahLst/>
              <a:cxnLst/>
              <a:rect r="r" b="b" t="t" l="l"/>
              <a:pathLst>
                <a:path h="1629664" w="3057271">
                  <a:moveTo>
                    <a:pt x="0" y="0"/>
                  </a:moveTo>
                  <a:lnTo>
                    <a:pt x="3057271" y="0"/>
                  </a:lnTo>
                  <a:lnTo>
                    <a:pt x="3057271" y="1629664"/>
                  </a:lnTo>
                  <a:lnTo>
                    <a:pt x="0" y="1629664"/>
                  </a:lnTo>
                  <a:close/>
                </a:path>
              </a:pathLst>
            </a:custGeom>
            <a:solidFill>
              <a:srgbClr val="F2E9DA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171318" y="5005292"/>
            <a:ext cx="191263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b="true" sz="2001" spc="39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1998前后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3273533" y="4783474"/>
            <a:ext cx="4887287" cy="1222248"/>
            <a:chOff x="0" y="0"/>
            <a:chExt cx="6516383" cy="16296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16370" cy="1629664"/>
            </a:xfrm>
            <a:custGeom>
              <a:avLst/>
              <a:gdLst/>
              <a:ahLst/>
              <a:cxnLst/>
              <a:rect r="r" b="b" t="t" l="l"/>
              <a:pathLst>
                <a:path h="1629664" w="6516370">
                  <a:moveTo>
                    <a:pt x="0" y="0"/>
                  </a:moveTo>
                  <a:lnTo>
                    <a:pt x="6516370" y="0"/>
                  </a:lnTo>
                  <a:lnTo>
                    <a:pt x="6516370" y="1629664"/>
                  </a:lnTo>
                  <a:lnTo>
                    <a:pt x="0" y="1629664"/>
                  </a:lnTo>
                  <a:close/>
                </a:path>
              </a:pathLst>
            </a:custGeom>
            <a:solidFill>
              <a:srgbClr val="F2E9DA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3477416" y="4957667"/>
            <a:ext cx="450699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2"/>
              </a:lnSpc>
            </a:pPr>
            <a:r>
              <a:rPr lang="en-US" sz="25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1998《北京日报》骑行俱乐部；1999《人民日报》器材报道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173974" y="4783474"/>
            <a:ext cx="4818650" cy="1222248"/>
            <a:chOff x="0" y="0"/>
            <a:chExt cx="6424866" cy="16296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24930" cy="1629664"/>
            </a:xfrm>
            <a:custGeom>
              <a:avLst/>
              <a:gdLst/>
              <a:ahLst/>
              <a:cxnLst/>
              <a:rect r="r" b="b" t="t" l="l"/>
              <a:pathLst>
                <a:path h="1629664" w="6424930">
                  <a:moveTo>
                    <a:pt x="0" y="0"/>
                  </a:moveTo>
                  <a:lnTo>
                    <a:pt x="6424930" y="0"/>
                  </a:lnTo>
                  <a:lnTo>
                    <a:pt x="6424930" y="1629664"/>
                  </a:lnTo>
                  <a:lnTo>
                    <a:pt x="0" y="1629664"/>
                  </a:lnTo>
                  <a:close/>
                </a:path>
              </a:pathLst>
            </a:custGeom>
            <a:solidFill>
              <a:srgbClr val="F2E9DA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8377857" y="4967192"/>
            <a:ext cx="4438355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此阶段以同期报刊文字证据为主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3005787" y="4783474"/>
            <a:ext cx="4297032" cy="1222248"/>
            <a:chOff x="0" y="0"/>
            <a:chExt cx="5729376" cy="16296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729351" cy="1629664"/>
            </a:xfrm>
            <a:custGeom>
              <a:avLst/>
              <a:gdLst/>
              <a:ahLst/>
              <a:cxnLst/>
              <a:rect r="r" b="b" t="t" l="l"/>
              <a:pathLst>
                <a:path h="1629664" w="5729351">
                  <a:moveTo>
                    <a:pt x="0" y="0"/>
                  </a:moveTo>
                  <a:lnTo>
                    <a:pt x="5729351" y="0"/>
                  </a:lnTo>
                  <a:lnTo>
                    <a:pt x="5729351" y="1629664"/>
                  </a:lnTo>
                  <a:lnTo>
                    <a:pt x="0" y="1629664"/>
                  </a:lnTo>
                  <a:close/>
                </a:path>
              </a:pathLst>
            </a:custGeom>
            <a:solidFill>
              <a:srgbClr val="F2E9DA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3209661" y="4957667"/>
            <a:ext cx="3916747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2"/>
              </a:lnSpc>
            </a:pPr>
            <a:r>
              <a:rPr lang="en-US" sz="25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新车型与运动骑行兴起；传统品牌面临转型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67445" y="6046337"/>
            <a:ext cx="2292934" cy="1222248"/>
            <a:chOff x="0" y="0"/>
            <a:chExt cx="3057246" cy="16296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057271" cy="1629664"/>
            </a:xfrm>
            <a:custGeom>
              <a:avLst/>
              <a:gdLst/>
              <a:ahLst/>
              <a:cxnLst/>
              <a:rect r="r" b="b" t="t" l="l"/>
              <a:pathLst>
                <a:path h="1629664" w="3057271">
                  <a:moveTo>
                    <a:pt x="0" y="0"/>
                  </a:moveTo>
                  <a:lnTo>
                    <a:pt x="3057271" y="0"/>
                  </a:lnTo>
                  <a:lnTo>
                    <a:pt x="3057271" y="1629664"/>
                  </a:lnTo>
                  <a:lnTo>
                    <a:pt x="0" y="1629664"/>
                  </a:ln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171318" y="6268145"/>
            <a:ext cx="191263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b="true" sz="2001" spc="39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2010前后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3273533" y="6046337"/>
            <a:ext cx="4887287" cy="1222248"/>
            <a:chOff x="0" y="0"/>
            <a:chExt cx="6516383" cy="16296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516370" cy="1629664"/>
            </a:xfrm>
            <a:custGeom>
              <a:avLst/>
              <a:gdLst/>
              <a:ahLst/>
              <a:cxnLst/>
              <a:rect r="r" b="b" t="t" l="l"/>
              <a:pathLst>
                <a:path h="1629664" w="6516370">
                  <a:moveTo>
                    <a:pt x="0" y="0"/>
                  </a:moveTo>
                  <a:lnTo>
                    <a:pt x="6516370" y="0"/>
                  </a:lnTo>
                  <a:lnTo>
                    <a:pt x="6516370" y="1629664"/>
                  </a:lnTo>
                  <a:lnTo>
                    <a:pt x="0" y="1629664"/>
                  </a:ln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3477416" y="6268145"/>
            <a:ext cx="450699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39">
                <a:solidFill>
                  <a:srgbClr val="282724"/>
                </a:solidFill>
                <a:latin typeface="Arimo"/>
                <a:ea typeface="Arimo"/>
                <a:cs typeface="Arimo"/>
                <a:sym typeface="Arimo"/>
              </a:rPr>
              <a:t>S13 2008电动车报道；S14 2010死飞报道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8173974" y="6046337"/>
            <a:ext cx="4818650" cy="1222248"/>
            <a:chOff x="0" y="0"/>
            <a:chExt cx="6424866" cy="162966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424930" cy="1629664"/>
            </a:xfrm>
            <a:custGeom>
              <a:avLst/>
              <a:gdLst/>
              <a:ahLst/>
              <a:cxnLst/>
              <a:rect r="r" b="b" t="t" l="l"/>
              <a:pathLst>
                <a:path h="1629664" w="6424930">
                  <a:moveTo>
                    <a:pt x="0" y="0"/>
                  </a:moveTo>
                  <a:lnTo>
                    <a:pt x="6424930" y="0"/>
                  </a:lnTo>
                  <a:lnTo>
                    <a:pt x="6424930" y="1629664"/>
                  </a:lnTo>
                  <a:lnTo>
                    <a:pt x="0" y="1629664"/>
                  </a:ln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54" id="54"/>
          <p:cNvSpPr txBox="true"/>
          <p:nvPr/>
        </p:nvSpPr>
        <p:spPr>
          <a:xfrm rot="0">
            <a:off x="8377857" y="6268145"/>
            <a:ext cx="443835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39">
                <a:solidFill>
                  <a:srgbClr val="282724"/>
                </a:solidFill>
                <a:latin typeface="Arimo"/>
                <a:ea typeface="Arimo"/>
                <a:cs typeface="Arimo"/>
                <a:sym typeface="Arimo"/>
              </a:rPr>
              <a:t>S26：2007中国电动车；S27：2009国外车型结构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3005787" y="6046337"/>
            <a:ext cx="4297032" cy="1222248"/>
            <a:chOff x="0" y="0"/>
            <a:chExt cx="5729376" cy="162966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729351" cy="1629664"/>
            </a:xfrm>
            <a:custGeom>
              <a:avLst/>
              <a:gdLst/>
              <a:ahLst/>
              <a:cxnLst/>
              <a:rect r="r" b="b" t="t" l="l"/>
              <a:pathLst>
                <a:path h="1629664" w="5729351">
                  <a:moveTo>
                    <a:pt x="0" y="0"/>
                  </a:moveTo>
                  <a:lnTo>
                    <a:pt x="5729351" y="0"/>
                  </a:lnTo>
                  <a:lnTo>
                    <a:pt x="5729351" y="1629664"/>
                  </a:lnTo>
                  <a:lnTo>
                    <a:pt x="0" y="1629664"/>
                  </a:ln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57" id="57"/>
          <p:cNvSpPr txBox="true"/>
          <p:nvPr/>
        </p:nvSpPr>
        <p:spPr>
          <a:xfrm rot="0">
            <a:off x="13209661" y="6239570"/>
            <a:ext cx="391674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82724"/>
                </a:solidFill>
                <a:latin typeface="Calibri (MS)"/>
                <a:ea typeface="Calibri (MS)"/>
                <a:cs typeface="Calibri (MS)"/>
                <a:sym typeface="Calibri (MS)"/>
              </a:rPr>
              <a:t>电动化通勤与青年骑行文化并行。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967445" y="7309199"/>
            <a:ext cx="2292934" cy="1222248"/>
            <a:chOff x="0" y="0"/>
            <a:chExt cx="3057246" cy="16296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057271" cy="1629664"/>
            </a:xfrm>
            <a:custGeom>
              <a:avLst/>
              <a:gdLst/>
              <a:ahLst/>
              <a:cxnLst/>
              <a:rect r="r" b="b" t="t" l="l"/>
              <a:pathLst>
                <a:path h="1629664" w="3057271">
                  <a:moveTo>
                    <a:pt x="0" y="0"/>
                  </a:moveTo>
                  <a:lnTo>
                    <a:pt x="3057271" y="0"/>
                  </a:lnTo>
                  <a:lnTo>
                    <a:pt x="3057271" y="1629664"/>
                  </a:lnTo>
                  <a:lnTo>
                    <a:pt x="0" y="1629664"/>
                  </a:lnTo>
                  <a:close/>
                </a:path>
              </a:pathLst>
            </a:custGeom>
            <a:solidFill>
              <a:srgbClr val="F2E9DA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1171318" y="7531008"/>
            <a:ext cx="191263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b="true" sz="2001" spc="39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2026当下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3273533" y="7309199"/>
            <a:ext cx="4887287" cy="1222248"/>
            <a:chOff x="0" y="0"/>
            <a:chExt cx="6516383" cy="162966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516370" cy="1629664"/>
            </a:xfrm>
            <a:custGeom>
              <a:avLst/>
              <a:gdLst/>
              <a:ahLst/>
              <a:cxnLst/>
              <a:rect r="r" b="b" t="t" l="l"/>
              <a:pathLst>
                <a:path h="1629664" w="6516370">
                  <a:moveTo>
                    <a:pt x="0" y="0"/>
                  </a:moveTo>
                  <a:lnTo>
                    <a:pt x="6516370" y="0"/>
                  </a:lnTo>
                  <a:lnTo>
                    <a:pt x="6516370" y="1629664"/>
                  </a:lnTo>
                  <a:lnTo>
                    <a:pt x="0" y="1629664"/>
                  </a:lnTo>
                  <a:close/>
                </a:path>
              </a:pathLst>
            </a:custGeom>
            <a:solidFill>
              <a:srgbClr val="F2E9DA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63" id="63"/>
          <p:cNvSpPr txBox="true"/>
          <p:nvPr/>
        </p:nvSpPr>
        <p:spPr>
          <a:xfrm rot="0">
            <a:off x="3477416" y="7531008"/>
            <a:ext cx="450699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39">
                <a:solidFill>
                  <a:srgbClr val="282724"/>
                </a:solidFill>
                <a:latin typeface="Arimo"/>
                <a:ea typeface="Arimo"/>
                <a:cs typeface="Arimo"/>
                <a:sym typeface="Arimo"/>
              </a:rPr>
              <a:t>S17/S19 2025；S21 2025；S22 2026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8173974" y="7309199"/>
            <a:ext cx="4818650" cy="1222248"/>
            <a:chOff x="0" y="0"/>
            <a:chExt cx="6424866" cy="162966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424930" cy="1629664"/>
            </a:xfrm>
            <a:custGeom>
              <a:avLst/>
              <a:gdLst/>
              <a:ahLst/>
              <a:cxnLst/>
              <a:rect r="r" b="b" t="t" l="l"/>
              <a:pathLst>
                <a:path h="1629664" w="6424930">
                  <a:moveTo>
                    <a:pt x="0" y="0"/>
                  </a:moveTo>
                  <a:lnTo>
                    <a:pt x="6424930" y="0"/>
                  </a:lnTo>
                  <a:lnTo>
                    <a:pt x="6424930" y="1629664"/>
                  </a:lnTo>
                  <a:lnTo>
                    <a:pt x="0" y="1629664"/>
                  </a:lnTo>
                  <a:close/>
                </a:path>
              </a:pathLst>
            </a:custGeom>
            <a:solidFill>
              <a:srgbClr val="F2E9DA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66" id="66"/>
          <p:cNvSpPr txBox="true"/>
          <p:nvPr/>
        </p:nvSpPr>
        <p:spPr>
          <a:xfrm rot="0">
            <a:off x="8377857" y="7531008"/>
            <a:ext cx="443835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39">
                <a:solidFill>
                  <a:srgbClr val="282724"/>
                </a:solidFill>
                <a:latin typeface="Arimo"/>
                <a:ea typeface="Arimo"/>
                <a:cs typeface="Arimo"/>
                <a:sym typeface="Arimo"/>
              </a:rPr>
              <a:t>S29：2024北京共享单车，邻近年代实拍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3005787" y="7309199"/>
            <a:ext cx="4297032" cy="1222248"/>
            <a:chOff x="0" y="0"/>
            <a:chExt cx="5729376" cy="162966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729351" cy="1629664"/>
            </a:xfrm>
            <a:custGeom>
              <a:avLst/>
              <a:gdLst/>
              <a:ahLst/>
              <a:cxnLst/>
              <a:rect r="r" b="b" t="t" l="l"/>
              <a:pathLst>
                <a:path h="1629664" w="5729351">
                  <a:moveTo>
                    <a:pt x="0" y="0"/>
                  </a:moveTo>
                  <a:lnTo>
                    <a:pt x="5729351" y="0"/>
                  </a:lnTo>
                  <a:lnTo>
                    <a:pt x="5729351" y="1629664"/>
                  </a:lnTo>
                  <a:lnTo>
                    <a:pt x="0" y="1629664"/>
                  </a:lnTo>
                  <a:close/>
                </a:path>
              </a:pathLst>
            </a:custGeom>
            <a:solidFill>
              <a:srgbClr val="F2E9DA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69" id="69"/>
          <p:cNvSpPr txBox="true"/>
          <p:nvPr/>
        </p:nvSpPr>
        <p:spPr>
          <a:xfrm rot="0">
            <a:off x="13209661" y="7502433"/>
            <a:ext cx="391674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82724"/>
                </a:solidFill>
                <a:latin typeface="Calibri (MS)"/>
                <a:ea typeface="Calibri (MS)"/>
                <a:cs typeface="Calibri (MS)"/>
                <a:sym typeface="Calibri (MS)"/>
              </a:rPr>
              <a:t>共享、劳动与专业骑行共同存在。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008631" y="8942670"/>
            <a:ext cx="16307924" cy="535915"/>
            <a:chOff x="0" y="0"/>
            <a:chExt cx="21743899" cy="71455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743924" cy="714502"/>
            </a:xfrm>
            <a:custGeom>
              <a:avLst/>
              <a:gdLst/>
              <a:ahLst/>
              <a:cxnLst/>
              <a:rect r="r" b="b" t="t" l="l"/>
              <a:pathLst>
                <a:path h="714502" w="21743924">
                  <a:moveTo>
                    <a:pt x="0" y="57150"/>
                  </a:moveTo>
                  <a:cubicBezTo>
                    <a:pt x="0" y="25654"/>
                    <a:pt x="25654" y="0"/>
                    <a:pt x="57150" y="0"/>
                  </a:cubicBezTo>
                  <a:lnTo>
                    <a:pt x="21686774" y="0"/>
                  </a:lnTo>
                  <a:cubicBezTo>
                    <a:pt x="21718397" y="0"/>
                    <a:pt x="21743924" y="25654"/>
                    <a:pt x="21743924" y="57150"/>
                  </a:cubicBezTo>
                  <a:lnTo>
                    <a:pt x="21743924" y="657352"/>
                  </a:lnTo>
                  <a:cubicBezTo>
                    <a:pt x="21743924" y="688975"/>
                    <a:pt x="21718270" y="714502"/>
                    <a:pt x="21686774" y="714502"/>
                  </a:cubicBezTo>
                  <a:lnTo>
                    <a:pt x="57150" y="714502"/>
                  </a:lnTo>
                  <a:cubicBezTo>
                    <a:pt x="25527" y="714502"/>
                    <a:pt x="0" y="688848"/>
                    <a:pt x="0" y="65735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72" id="72"/>
          <p:cNvSpPr txBox="true"/>
          <p:nvPr/>
        </p:nvSpPr>
        <p:spPr>
          <a:xfrm rot="0">
            <a:off x="1363494" y="9053551"/>
            <a:ext cx="9652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A32E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核心标准：年份明确、来源明确、材料用途明确；时间不足以对应时，主动说明限制。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151" y="282178"/>
            <a:ext cx="10917374" cy="31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A32E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史料分析 / 二手资料调查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8151" y="751961"/>
            <a:ext cx="16408060" cy="75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资料来源索引｜课程汇报可复核的史料清单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41337" y="342405"/>
            <a:ext cx="690963" cy="3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b="true" sz="1501" spc="29">
                <a:solidFill>
                  <a:srgbClr val="6F665D"/>
                </a:solidFill>
                <a:latin typeface="Arimo Bold"/>
                <a:ea typeface="Arimo Bold"/>
                <a:cs typeface="Arimo Bold"/>
                <a:sym typeface="Arimo Bold"/>
              </a:rPr>
              <a:t>08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43601" y="1596399"/>
            <a:ext cx="8164234" cy="840758"/>
            <a:chOff x="0" y="0"/>
            <a:chExt cx="10670997" cy="1098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70921" cy="1098931"/>
            </a:xfrm>
            <a:custGeom>
              <a:avLst/>
              <a:gdLst/>
              <a:ahLst/>
              <a:cxnLst/>
              <a:rect r="r" b="b" t="t" l="l"/>
              <a:pathLst>
                <a:path h="1098931" w="10670921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10583037" y="0"/>
                  </a:lnTo>
                  <a:cubicBezTo>
                    <a:pt x="10631551" y="0"/>
                    <a:pt x="10670921" y="39370"/>
                    <a:pt x="10670921" y="87884"/>
                  </a:cubicBezTo>
                  <a:lnTo>
                    <a:pt x="10670921" y="1011047"/>
                  </a:lnTo>
                  <a:cubicBezTo>
                    <a:pt x="10670921" y="1059561"/>
                    <a:pt x="10631551" y="1098931"/>
                    <a:pt x="10583037" y="1098931"/>
                  </a:cubicBezTo>
                  <a:lnTo>
                    <a:pt x="87884" y="1098931"/>
                  </a:lnTo>
                  <a:cubicBezTo>
                    <a:pt x="39370" y="1098931"/>
                    <a:pt x="0" y="1059561"/>
                    <a:pt x="0" y="101104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51575" y="1757329"/>
            <a:ext cx="1054931" cy="31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1"/>
              </a:lnSpc>
            </a:pPr>
            <a:r>
              <a:rPr lang="en-US" b="true" sz="1684" spc="33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99814" y="1696275"/>
            <a:ext cx="6544040" cy="30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sz="1531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人民日报（1980-01-02）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99814" y="2041867"/>
            <a:ext cx="6544040" cy="24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378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《自行车何以出口困难》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43601" y="2506582"/>
            <a:ext cx="8164234" cy="840758"/>
            <a:chOff x="0" y="0"/>
            <a:chExt cx="10670997" cy="10989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70921" cy="1098931"/>
            </a:xfrm>
            <a:custGeom>
              <a:avLst/>
              <a:gdLst/>
              <a:ahLst/>
              <a:cxnLst/>
              <a:rect r="r" b="b" t="t" l="l"/>
              <a:pathLst>
                <a:path h="1098931" w="10670921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10583037" y="0"/>
                  </a:lnTo>
                  <a:cubicBezTo>
                    <a:pt x="10631551" y="0"/>
                    <a:pt x="10670921" y="39370"/>
                    <a:pt x="10670921" y="87884"/>
                  </a:cubicBezTo>
                  <a:lnTo>
                    <a:pt x="10670921" y="1011047"/>
                  </a:lnTo>
                  <a:cubicBezTo>
                    <a:pt x="10670921" y="1059561"/>
                    <a:pt x="10631551" y="1098931"/>
                    <a:pt x="10583037" y="1098931"/>
                  </a:cubicBezTo>
                  <a:lnTo>
                    <a:pt x="87884" y="1098931"/>
                  </a:lnTo>
                  <a:cubicBezTo>
                    <a:pt x="39370" y="1098931"/>
                    <a:pt x="0" y="1059561"/>
                    <a:pt x="0" y="101104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51575" y="2667512"/>
            <a:ext cx="1054931" cy="31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1"/>
              </a:lnSpc>
            </a:pPr>
            <a:r>
              <a:rPr lang="en-US" b="true" sz="1684" spc="33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99814" y="2606457"/>
            <a:ext cx="6544040" cy="30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sz="1531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人民日报（1985-11-25）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99814" y="2952050"/>
            <a:ext cx="6544040" cy="24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378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《自行车供销正在向买方市场过渡》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43601" y="3416764"/>
            <a:ext cx="8164234" cy="840758"/>
            <a:chOff x="0" y="0"/>
            <a:chExt cx="10670997" cy="10989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70921" cy="1098931"/>
            </a:xfrm>
            <a:custGeom>
              <a:avLst/>
              <a:gdLst/>
              <a:ahLst/>
              <a:cxnLst/>
              <a:rect r="r" b="b" t="t" l="l"/>
              <a:pathLst>
                <a:path h="1098931" w="10670921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10583037" y="0"/>
                  </a:lnTo>
                  <a:cubicBezTo>
                    <a:pt x="10631551" y="0"/>
                    <a:pt x="10670921" y="39370"/>
                    <a:pt x="10670921" y="87884"/>
                  </a:cubicBezTo>
                  <a:lnTo>
                    <a:pt x="10670921" y="1011047"/>
                  </a:lnTo>
                  <a:cubicBezTo>
                    <a:pt x="10670921" y="1059561"/>
                    <a:pt x="10631551" y="1098931"/>
                    <a:pt x="10583037" y="1098931"/>
                  </a:cubicBezTo>
                  <a:lnTo>
                    <a:pt x="87884" y="1098931"/>
                  </a:lnTo>
                  <a:cubicBezTo>
                    <a:pt x="39370" y="1098931"/>
                    <a:pt x="0" y="1059561"/>
                    <a:pt x="0" y="101104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051575" y="3577695"/>
            <a:ext cx="1054931" cy="31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1"/>
              </a:lnSpc>
            </a:pPr>
            <a:r>
              <a:rPr lang="en-US" b="true" sz="1684" spc="33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S09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99814" y="3516640"/>
            <a:ext cx="6544040" cy="30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sz="1531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捷安特中国（企业资料）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99814" y="3862233"/>
            <a:ext cx="6544040" cy="24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378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品牌发展时间线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43601" y="4326957"/>
            <a:ext cx="8164234" cy="840758"/>
            <a:chOff x="0" y="0"/>
            <a:chExt cx="10670997" cy="10989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70921" cy="1098931"/>
            </a:xfrm>
            <a:custGeom>
              <a:avLst/>
              <a:gdLst/>
              <a:ahLst/>
              <a:cxnLst/>
              <a:rect r="r" b="b" t="t" l="l"/>
              <a:pathLst>
                <a:path h="1098931" w="10670921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10583037" y="0"/>
                  </a:lnTo>
                  <a:cubicBezTo>
                    <a:pt x="10631551" y="0"/>
                    <a:pt x="10670921" y="39370"/>
                    <a:pt x="10670921" y="87884"/>
                  </a:cubicBezTo>
                  <a:lnTo>
                    <a:pt x="10670921" y="1011047"/>
                  </a:lnTo>
                  <a:cubicBezTo>
                    <a:pt x="10670921" y="1059561"/>
                    <a:pt x="10631551" y="1098931"/>
                    <a:pt x="10583037" y="1098931"/>
                  </a:cubicBezTo>
                  <a:lnTo>
                    <a:pt x="87884" y="1098931"/>
                  </a:lnTo>
                  <a:cubicBezTo>
                    <a:pt x="39370" y="1098931"/>
                    <a:pt x="0" y="1059561"/>
                    <a:pt x="0" y="101104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051575" y="4487887"/>
            <a:ext cx="1054931" cy="31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1"/>
              </a:lnSpc>
            </a:pPr>
            <a:r>
              <a:rPr lang="en-US" b="true" sz="1684" spc="33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S10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99814" y="4426823"/>
            <a:ext cx="6544040" cy="30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sz="1531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人民日报（1998-08-12）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99814" y="4772416"/>
            <a:ext cx="6544040" cy="24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378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《掉队的名牌——“永久”自行车》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43601" y="5237140"/>
            <a:ext cx="8164234" cy="840758"/>
            <a:chOff x="0" y="0"/>
            <a:chExt cx="10670997" cy="109890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70921" cy="1098931"/>
            </a:xfrm>
            <a:custGeom>
              <a:avLst/>
              <a:gdLst/>
              <a:ahLst/>
              <a:cxnLst/>
              <a:rect r="r" b="b" t="t" l="l"/>
              <a:pathLst>
                <a:path h="1098931" w="10670921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10583037" y="0"/>
                  </a:lnTo>
                  <a:cubicBezTo>
                    <a:pt x="10631551" y="0"/>
                    <a:pt x="10670921" y="39370"/>
                    <a:pt x="10670921" y="87884"/>
                  </a:cubicBezTo>
                  <a:lnTo>
                    <a:pt x="10670921" y="1011047"/>
                  </a:lnTo>
                  <a:cubicBezTo>
                    <a:pt x="10670921" y="1059561"/>
                    <a:pt x="10631551" y="1098931"/>
                    <a:pt x="10583037" y="1098931"/>
                  </a:cubicBezTo>
                  <a:lnTo>
                    <a:pt x="87884" y="1098931"/>
                  </a:lnTo>
                  <a:cubicBezTo>
                    <a:pt x="39370" y="1098931"/>
                    <a:pt x="0" y="1059561"/>
                    <a:pt x="0" y="101104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051575" y="5398070"/>
            <a:ext cx="1054931" cy="31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1"/>
              </a:lnSpc>
            </a:pPr>
            <a:r>
              <a:rPr lang="en-US" b="true" sz="1684" spc="33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S13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199814" y="5337015"/>
            <a:ext cx="6544040" cy="30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sz="1531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人民网（2008-01-03）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99814" y="5682608"/>
            <a:ext cx="6544040" cy="24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378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《电动自行车在争议中提速》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43601" y="6147322"/>
            <a:ext cx="8164234" cy="840758"/>
            <a:chOff x="0" y="0"/>
            <a:chExt cx="10670997" cy="10989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670921" cy="1098931"/>
            </a:xfrm>
            <a:custGeom>
              <a:avLst/>
              <a:gdLst/>
              <a:ahLst/>
              <a:cxnLst/>
              <a:rect r="r" b="b" t="t" l="l"/>
              <a:pathLst>
                <a:path h="1098931" w="10670921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10583037" y="0"/>
                  </a:lnTo>
                  <a:cubicBezTo>
                    <a:pt x="10631551" y="0"/>
                    <a:pt x="10670921" y="39370"/>
                    <a:pt x="10670921" y="87884"/>
                  </a:cubicBezTo>
                  <a:lnTo>
                    <a:pt x="10670921" y="1011047"/>
                  </a:lnTo>
                  <a:cubicBezTo>
                    <a:pt x="10670921" y="1059561"/>
                    <a:pt x="10631551" y="1098931"/>
                    <a:pt x="10583037" y="1098931"/>
                  </a:cubicBezTo>
                  <a:lnTo>
                    <a:pt x="87884" y="1098931"/>
                  </a:lnTo>
                  <a:cubicBezTo>
                    <a:pt x="39370" y="1098931"/>
                    <a:pt x="0" y="1059561"/>
                    <a:pt x="0" y="101104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051575" y="6308253"/>
            <a:ext cx="1054931" cy="31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1"/>
              </a:lnSpc>
            </a:pPr>
            <a:r>
              <a:rPr lang="en-US" b="true" sz="1684" spc="33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S14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99814" y="6247198"/>
            <a:ext cx="6544040" cy="30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sz="1531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广州日报/和讯网（2010-03-23）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99814" y="6592791"/>
            <a:ext cx="6544040" cy="24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378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《死飞单车广州街头一车难求》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43601" y="7057505"/>
            <a:ext cx="8164234" cy="840758"/>
            <a:chOff x="0" y="0"/>
            <a:chExt cx="10670997" cy="10989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70921" cy="1098931"/>
            </a:xfrm>
            <a:custGeom>
              <a:avLst/>
              <a:gdLst/>
              <a:ahLst/>
              <a:cxnLst/>
              <a:rect r="r" b="b" t="t" l="l"/>
              <a:pathLst>
                <a:path h="1098931" w="10670921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10583037" y="0"/>
                  </a:lnTo>
                  <a:cubicBezTo>
                    <a:pt x="10631551" y="0"/>
                    <a:pt x="10670921" y="39370"/>
                    <a:pt x="10670921" y="87884"/>
                  </a:cubicBezTo>
                  <a:lnTo>
                    <a:pt x="10670921" y="1011047"/>
                  </a:lnTo>
                  <a:cubicBezTo>
                    <a:pt x="10670921" y="1059561"/>
                    <a:pt x="10631551" y="1098931"/>
                    <a:pt x="10583037" y="1098931"/>
                  </a:cubicBezTo>
                  <a:lnTo>
                    <a:pt x="87884" y="1098931"/>
                  </a:lnTo>
                  <a:cubicBezTo>
                    <a:pt x="39370" y="1098931"/>
                    <a:pt x="0" y="1059561"/>
                    <a:pt x="0" y="101104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051575" y="7218436"/>
            <a:ext cx="1054931" cy="31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1"/>
              </a:lnSpc>
            </a:pPr>
            <a:r>
              <a:rPr lang="en-US" b="true" sz="1684" spc="33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S17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199814" y="7157381"/>
            <a:ext cx="6544040" cy="30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sz="1531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新华网（2025-03-23）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99814" y="7502974"/>
            <a:ext cx="6544040" cy="24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378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《骑行热带动自行车消费升级》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67474" y="7966279"/>
            <a:ext cx="8164234" cy="840758"/>
            <a:chOff x="0" y="0"/>
            <a:chExt cx="10670997" cy="109890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670921" cy="1098931"/>
            </a:xfrm>
            <a:custGeom>
              <a:avLst/>
              <a:gdLst/>
              <a:ahLst/>
              <a:cxnLst/>
              <a:rect r="r" b="b" t="t" l="l"/>
              <a:pathLst>
                <a:path h="1098931" w="10670921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10583037" y="0"/>
                  </a:lnTo>
                  <a:cubicBezTo>
                    <a:pt x="10631551" y="0"/>
                    <a:pt x="10670921" y="39370"/>
                    <a:pt x="10670921" y="87884"/>
                  </a:cubicBezTo>
                  <a:lnTo>
                    <a:pt x="10670921" y="1011047"/>
                  </a:lnTo>
                  <a:cubicBezTo>
                    <a:pt x="10670921" y="1059561"/>
                    <a:pt x="10631551" y="1098931"/>
                    <a:pt x="10583037" y="1098931"/>
                  </a:cubicBezTo>
                  <a:lnTo>
                    <a:pt x="87884" y="1098931"/>
                  </a:lnTo>
                  <a:cubicBezTo>
                    <a:pt x="39370" y="1098931"/>
                    <a:pt x="0" y="1059561"/>
                    <a:pt x="0" y="101104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075448" y="8127209"/>
            <a:ext cx="1054931" cy="31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1"/>
              </a:lnSpc>
            </a:pPr>
            <a:r>
              <a:rPr lang="en-US" b="true" sz="1684" spc="33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S19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223678" y="8066155"/>
            <a:ext cx="6544040" cy="30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sz="1531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中国政府网（2025-02）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223678" y="8411747"/>
            <a:ext cx="6544040" cy="24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378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电动自行车新标准解读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67474" y="8876462"/>
            <a:ext cx="8164234" cy="840758"/>
            <a:chOff x="0" y="0"/>
            <a:chExt cx="10670997" cy="109890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670921" cy="1098931"/>
            </a:xfrm>
            <a:custGeom>
              <a:avLst/>
              <a:gdLst/>
              <a:ahLst/>
              <a:cxnLst/>
              <a:rect r="r" b="b" t="t" l="l"/>
              <a:pathLst>
                <a:path h="1098931" w="10670921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10583037" y="0"/>
                  </a:lnTo>
                  <a:cubicBezTo>
                    <a:pt x="10631551" y="0"/>
                    <a:pt x="10670921" y="39370"/>
                    <a:pt x="10670921" y="87884"/>
                  </a:cubicBezTo>
                  <a:lnTo>
                    <a:pt x="10670921" y="1011047"/>
                  </a:lnTo>
                  <a:cubicBezTo>
                    <a:pt x="10670921" y="1059561"/>
                    <a:pt x="10631551" y="1098931"/>
                    <a:pt x="10583037" y="1098931"/>
                  </a:cubicBezTo>
                  <a:lnTo>
                    <a:pt x="87884" y="1098931"/>
                  </a:lnTo>
                  <a:cubicBezTo>
                    <a:pt x="39370" y="1098931"/>
                    <a:pt x="0" y="1059561"/>
                    <a:pt x="0" y="101104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1075448" y="9037392"/>
            <a:ext cx="1054931" cy="31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1"/>
              </a:lnSpc>
            </a:pPr>
            <a:r>
              <a:rPr lang="en-US" b="true" sz="1684" spc="33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S21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223678" y="8976337"/>
            <a:ext cx="6544040" cy="30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sz="1531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北京市交通委员会（2025-10-31）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196465" y="9329161"/>
            <a:ext cx="6415002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共享单车治理信息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294581" y="1505379"/>
            <a:ext cx="8164234" cy="840758"/>
            <a:chOff x="0" y="0"/>
            <a:chExt cx="10670997" cy="109890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70921" cy="1098931"/>
            </a:xfrm>
            <a:custGeom>
              <a:avLst/>
              <a:gdLst/>
              <a:ahLst/>
              <a:cxnLst/>
              <a:rect r="r" b="b" t="t" l="l"/>
              <a:pathLst>
                <a:path h="1098931" w="10670921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10583037" y="0"/>
                  </a:lnTo>
                  <a:cubicBezTo>
                    <a:pt x="10631551" y="0"/>
                    <a:pt x="10670921" y="39370"/>
                    <a:pt x="10670921" y="87884"/>
                  </a:cubicBezTo>
                  <a:lnTo>
                    <a:pt x="10670921" y="1011047"/>
                  </a:lnTo>
                  <a:cubicBezTo>
                    <a:pt x="10670921" y="1059561"/>
                    <a:pt x="10631551" y="1098931"/>
                    <a:pt x="10583037" y="1098931"/>
                  </a:cubicBezTo>
                  <a:lnTo>
                    <a:pt x="87884" y="1098931"/>
                  </a:lnTo>
                  <a:cubicBezTo>
                    <a:pt x="39370" y="1098931"/>
                    <a:pt x="0" y="1059561"/>
                    <a:pt x="0" y="101104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9502555" y="1666309"/>
            <a:ext cx="1054931" cy="31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1"/>
              </a:lnSpc>
            </a:pPr>
            <a:r>
              <a:rPr lang="en-US" b="true" sz="1684" spc="33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S22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650785" y="1605254"/>
            <a:ext cx="6544040" cy="30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sz="1531" b="true">
                <a:solidFill>
                  <a:srgbClr val="2827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新华网四川频道（2026-10-19）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650785" y="1950847"/>
            <a:ext cx="6544040" cy="24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378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《骑行消费新场景》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294581" y="2494931"/>
            <a:ext cx="8164234" cy="840758"/>
            <a:chOff x="0" y="0"/>
            <a:chExt cx="10670997" cy="109890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670921" cy="1098931"/>
            </a:xfrm>
            <a:custGeom>
              <a:avLst/>
              <a:gdLst/>
              <a:ahLst/>
              <a:cxnLst/>
              <a:rect r="r" b="b" t="t" l="l"/>
              <a:pathLst>
                <a:path h="1098931" w="10670921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10583037" y="0"/>
                  </a:lnTo>
                  <a:cubicBezTo>
                    <a:pt x="10631551" y="0"/>
                    <a:pt x="10670921" y="39370"/>
                    <a:pt x="10670921" y="87884"/>
                  </a:cubicBezTo>
                  <a:lnTo>
                    <a:pt x="10670921" y="1011047"/>
                  </a:lnTo>
                  <a:cubicBezTo>
                    <a:pt x="10670921" y="1059561"/>
                    <a:pt x="10631551" y="1098931"/>
                    <a:pt x="10583037" y="1098931"/>
                  </a:cubicBezTo>
                  <a:lnTo>
                    <a:pt x="87884" y="1098931"/>
                  </a:lnTo>
                  <a:cubicBezTo>
                    <a:pt x="39370" y="1098931"/>
                    <a:pt x="0" y="1059561"/>
                    <a:pt x="0" y="101104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57" id="57"/>
          <p:cNvSpPr txBox="true"/>
          <p:nvPr/>
        </p:nvSpPr>
        <p:spPr>
          <a:xfrm rot="0">
            <a:off x="9502555" y="2655862"/>
            <a:ext cx="1054931" cy="31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1"/>
              </a:lnSpc>
            </a:pPr>
            <a:r>
              <a:rPr lang="en-US" b="true" sz="1684" spc="33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S23/S24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650785" y="2613847"/>
            <a:ext cx="6544040" cy="28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b="true" sz="1531" spc="30">
                <a:solidFill>
                  <a:srgbClr val="282724"/>
                </a:solidFill>
                <a:latin typeface="Arimo Bold"/>
                <a:ea typeface="Arimo Bold"/>
                <a:cs typeface="Arimo Bold"/>
                <a:sym typeface="Arimo Bold"/>
              </a:rPr>
              <a:t>Wikimedia Commons（1978-03）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650785" y="2940390"/>
            <a:ext cx="6544040" cy="24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378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北京街景照片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9294581" y="3405114"/>
            <a:ext cx="8164234" cy="840758"/>
            <a:chOff x="0" y="0"/>
            <a:chExt cx="10670997" cy="109890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670921" cy="1098931"/>
            </a:xfrm>
            <a:custGeom>
              <a:avLst/>
              <a:gdLst/>
              <a:ahLst/>
              <a:cxnLst/>
              <a:rect r="r" b="b" t="t" l="l"/>
              <a:pathLst>
                <a:path h="1098931" w="10670921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10583037" y="0"/>
                  </a:lnTo>
                  <a:cubicBezTo>
                    <a:pt x="10631551" y="0"/>
                    <a:pt x="10670921" y="39370"/>
                    <a:pt x="10670921" y="87884"/>
                  </a:cubicBezTo>
                  <a:lnTo>
                    <a:pt x="10670921" y="1011047"/>
                  </a:lnTo>
                  <a:cubicBezTo>
                    <a:pt x="10670921" y="1059561"/>
                    <a:pt x="10631551" y="1098931"/>
                    <a:pt x="10583037" y="1098931"/>
                  </a:cubicBezTo>
                  <a:lnTo>
                    <a:pt x="87884" y="1098931"/>
                  </a:lnTo>
                  <a:cubicBezTo>
                    <a:pt x="39370" y="1098931"/>
                    <a:pt x="0" y="1059561"/>
                    <a:pt x="0" y="101104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62" id="62"/>
          <p:cNvSpPr txBox="true"/>
          <p:nvPr/>
        </p:nvSpPr>
        <p:spPr>
          <a:xfrm rot="0">
            <a:off x="9502555" y="3566045"/>
            <a:ext cx="1054931" cy="31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1"/>
              </a:lnSpc>
            </a:pPr>
            <a:r>
              <a:rPr lang="en-US" b="true" sz="1684" spc="33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S26/S27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650785" y="3524040"/>
            <a:ext cx="6544040" cy="28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b="true" sz="1531" spc="30">
                <a:solidFill>
                  <a:srgbClr val="282724"/>
                </a:solidFill>
                <a:latin typeface="Arimo Bold"/>
                <a:ea typeface="Arimo Bold"/>
                <a:cs typeface="Arimo Bold"/>
                <a:sym typeface="Arimo Bold"/>
              </a:rPr>
              <a:t>Wikimedia Commons（2007/2009）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650785" y="3850583"/>
            <a:ext cx="6544040" cy="24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378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电动自行车街景/固定齿轮结构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9294581" y="4315297"/>
            <a:ext cx="8164234" cy="840758"/>
            <a:chOff x="0" y="0"/>
            <a:chExt cx="10670997" cy="109890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670921" cy="1098931"/>
            </a:xfrm>
            <a:custGeom>
              <a:avLst/>
              <a:gdLst/>
              <a:ahLst/>
              <a:cxnLst/>
              <a:rect r="r" b="b" t="t" l="l"/>
              <a:pathLst>
                <a:path h="1098931" w="10670921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10583037" y="0"/>
                  </a:lnTo>
                  <a:cubicBezTo>
                    <a:pt x="10631551" y="0"/>
                    <a:pt x="10670921" y="39370"/>
                    <a:pt x="10670921" y="87884"/>
                  </a:cubicBezTo>
                  <a:lnTo>
                    <a:pt x="10670921" y="1011047"/>
                  </a:lnTo>
                  <a:cubicBezTo>
                    <a:pt x="10670921" y="1059561"/>
                    <a:pt x="10631551" y="1098931"/>
                    <a:pt x="10583037" y="1098931"/>
                  </a:cubicBezTo>
                  <a:lnTo>
                    <a:pt x="87884" y="1098931"/>
                  </a:lnTo>
                  <a:cubicBezTo>
                    <a:pt x="39370" y="1098931"/>
                    <a:pt x="0" y="1059561"/>
                    <a:pt x="0" y="101104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AD0C2"/>
              </a:solidFill>
              <a:prstDash val="solid"/>
              <a:miter/>
            </a:ln>
          </p:spPr>
        </p:sp>
      </p:grpSp>
      <p:sp>
        <p:nvSpPr>
          <p:cNvPr name="TextBox 67" id="67"/>
          <p:cNvSpPr txBox="true"/>
          <p:nvPr/>
        </p:nvSpPr>
        <p:spPr>
          <a:xfrm rot="0">
            <a:off x="9502555" y="4476227"/>
            <a:ext cx="1054931" cy="31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1"/>
              </a:lnSpc>
            </a:pPr>
            <a:r>
              <a:rPr lang="en-US" b="true" sz="1684" spc="33">
                <a:solidFill>
                  <a:srgbClr val="A32E26"/>
                </a:solidFill>
                <a:latin typeface="Arimo Bold"/>
                <a:ea typeface="Arimo Bold"/>
                <a:cs typeface="Arimo Bold"/>
                <a:sym typeface="Arimo Bold"/>
              </a:rPr>
              <a:t>S28/S29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650785" y="4434223"/>
            <a:ext cx="6544040" cy="28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b="true" sz="1531" spc="30">
                <a:solidFill>
                  <a:srgbClr val="282724"/>
                </a:solidFill>
                <a:latin typeface="Arimo Bold"/>
                <a:ea typeface="Arimo Bold"/>
                <a:cs typeface="Arimo Bold"/>
                <a:sym typeface="Arimo Bold"/>
              </a:rPr>
              <a:t>Wikimedia Commons（2014/2024）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650785" y="4760765"/>
            <a:ext cx="6544040" cy="24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378">
                <a:solidFill>
                  <a:srgbClr val="6F665D"/>
                </a:solidFill>
                <a:latin typeface="Calibri (MS)"/>
                <a:ea typeface="Calibri (MS)"/>
                <a:cs typeface="Calibri (MS)"/>
                <a:sym typeface="Calibri (MS)"/>
              </a:rPr>
              <a:t>山地车结构/北京共享单车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294581" y="5647993"/>
            <a:ext cx="8133859" cy="424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b="true" sz="2051" spc="40">
                <a:solidFill>
                  <a:srgbClr val="2D2721"/>
                </a:solidFill>
                <a:latin typeface="Arimo Bold"/>
                <a:ea typeface="Arimo Bold"/>
                <a:cs typeface="Arimo Bold"/>
                <a:sym typeface="Arimo Bold"/>
              </a:rPr>
              <a:t>1998—2000年前后：新增可复核证据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9341926" y="6272284"/>
            <a:ext cx="8247578" cy="771519"/>
            <a:chOff x="0" y="0"/>
            <a:chExt cx="21725585" cy="203231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725510" cy="2032254"/>
            </a:xfrm>
            <a:custGeom>
              <a:avLst/>
              <a:gdLst/>
              <a:ahLst/>
              <a:cxnLst/>
              <a:rect r="r" b="b" t="t" l="l"/>
              <a:pathLst>
                <a:path h="2032254" w="2172551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1522310" y="0"/>
                  </a:lnTo>
                  <a:cubicBezTo>
                    <a:pt x="21634577" y="0"/>
                    <a:pt x="21725510" y="90932"/>
                    <a:pt x="21725510" y="203200"/>
                  </a:cubicBezTo>
                  <a:lnTo>
                    <a:pt x="21725510" y="1829054"/>
                  </a:lnTo>
                  <a:cubicBezTo>
                    <a:pt x="21725510" y="1941322"/>
                    <a:pt x="21634577" y="2032254"/>
                    <a:pt x="21522310" y="2032254"/>
                  </a:cubicBezTo>
                  <a:lnTo>
                    <a:pt x="203200" y="2032254"/>
                  </a:lnTo>
                  <a:cubicBezTo>
                    <a:pt x="90932" y="2032254"/>
                    <a:pt x="0" y="1941322"/>
                    <a:pt x="0" y="1829054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CCEB8"/>
              </a:solidFill>
              <a:prstDash val="solid"/>
              <a:miter/>
            </a:ln>
          </p:spPr>
        </p:sp>
      </p:grpSp>
      <p:sp>
        <p:nvSpPr>
          <p:cNvPr name="TextBox 73" id="73"/>
          <p:cNvSpPr txBox="true"/>
          <p:nvPr/>
        </p:nvSpPr>
        <p:spPr>
          <a:xfrm rot="0">
            <a:off x="9496071" y="6433122"/>
            <a:ext cx="247865" cy="16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5"/>
              </a:lnSpc>
            </a:pPr>
            <a:r>
              <a:rPr lang="en-US" b="true" sz="987" spc="19">
                <a:solidFill>
                  <a:srgbClr val="973127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919901" y="6377538"/>
            <a:ext cx="7022173" cy="180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"/>
              </a:lnSpc>
            </a:pPr>
            <a:r>
              <a:rPr lang="en-US" b="true" sz="1063" spc="21">
                <a:solidFill>
                  <a:srgbClr val="2D2721"/>
                </a:solidFill>
                <a:latin typeface="Arimo Bold"/>
                <a:ea typeface="Arimo Bold"/>
                <a:cs typeface="Arimo Bold"/>
                <a:sym typeface="Arimo Bold"/>
              </a:rPr>
              <a:t>1998-06-13｜《北京日报》第5版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919901" y="6594719"/>
            <a:ext cx="7230615" cy="17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9"/>
              </a:lnSpc>
            </a:pPr>
            <a:r>
              <a:rPr lang="en-US" sz="782">
                <a:solidFill>
                  <a:srgbClr val="2D2721"/>
                </a:solidFill>
                <a:latin typeface="Calibri (MS)"/>
                <a:ea typeface="Calibri (MS)"/>
                <a:cs typeface="Calibri (MS)"/>
                <a:sym typeface="Calibri (MS)"/>
              </a:rPr>
              <a:t>《北京自行车的方向》：1998年北京自行车博览会、骑行俱乐部、爱好者自行组装运动自行车。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919901" y="6798786"/>
            <a:ext cx="7230615" cy="13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"/>
              </a:lnSpc>
            </a:pPr>
            <a:r>
              <a:rPr lang="en-US" sz="653">
                <a:solidFill>
                  <a:srgbClr val="675F53"/>
                </a:solidFill>
                <a:latin typeface="Calibri (MS)"/>
                <a:ea typeface="Calibri (MS)"/>
                <a:cs typeface="Calibri (MS)"/>
                <a:sym typeface="Calibri (MS)"/>
              </a:rPr>
              <a:t>来源性质：原报内容由2017年《人民周刊·自行车的前世今生》回顾引录；原版报纸扫描待核。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9341926" y="7147734"/>
            <a:ext cx="8247578" cy="771519"/>
            <a:chOff x="0" y="0"/>
            <a:chExt cx="21725585" cy="203231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725510" cy="2032254"/>
            </a:xfrm>
            <a:custGeom>
              <a:avLst/>
              <a:gdLst/>
              <a:ahLst/>
              <a:cxnLst/>
              <a:rect r="r" b="b" t="t" l="l"/>
              <a:pathLst>
                <a:path h="2032254" w="2172551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1522310" y="0"/>
                  </a:lnTo>
                  <a:cubicBezTo>
                    <a:pt x="21634577" y="0"/>
                    <a:pt x="21725510" y="90932"/>
                    <a:pt x="21725510" y="203200"/>
                  </a:cubicBezTo>
                  <a:lnTo>
                    <a:pt x="21725510" y="1829054"/>
                  </a:lnTo>
                  <a:cubicBezTo>
                    <a:pt x="21725510" y="1941322"/>
                    <a:pt x="21634577" y="2032254"/>
                    <a:pt x="21522310" y="2032254"/>
                  </a:cubicBezTo>
                  <a:lnTo>
                    <a:pt x="203200" y="2032254"/>
                  </a:lnTo>
                  <a:cubicBezTo>
                    <a:pt x="90932" y="2032254"/>
                    <a:pt x="0" y="1941322"/>
                    <a:pt x="0" y="1829054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CCEB8"/>
              </a:solidFill>
              <a:prstDash val="solid"/>
              <a:miter/>
            </a:ln>
          </p:spPr>
        </p:sp>
      </p:grpSp>
      <p:sp>
        <p:nvSpPr>
          <p:cNvPr name="TextBox 79" id="79"/>
          <p:cNvSpPr txBox="true"/>
          <p:nvPr/>
        </p:nvSpPr>
        <p:spPr>
          <a:xfrm rot="0">
            <a:off x="9496071" y="7308573"/>
            <a:ext cx="247865" cy="16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5"/>
              </a:lnSpc>
            </a:pPr>
            <a:r>
              <a:rPr lang="en-US" b="true" sz="987" spc="19">
                <a:solidFill>
                  <a:srgbClr val="973127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919901" y="7252989"/>
            <a:ext cx="7022173" cy="180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"/>
              </a:lnSpc>
            </a:pPr>
            <a:r>
              <a:rPr lang="en-US" b="true" sz="1063" spc="21">
                <a:solidFill>
                  <a:srgbClr val="2D2721"/>
                </a:solidFill>
                <a:latin typeface="Arimo Bold"/>
                <a:ea typeface="Arimo Bold"/>
                <a:cs typeface="Arimo Bold"/>
                <a:sym typeface="Arimo Bold"/>
              </a:rPr>
              <a:t>1999-12-01｜《人民日报》第8版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919901" y="7470170"/>
            <a:ext cx="7230615" cy="17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9"/>
              </a:lnSpc>
            </a:pPr>
            <a:r>
              <a:rPr lang="en-US" sz="782">
                <a:solidFill>
                  <a:srgbClr val="2D2721"/>
                </a:solidFill>
                <a:latin typeface="Calibri (MS)"/>
                <a:ea typeface="Calibri (MS)"/>
                <a:cs typeface="Calibri (MS)"/>
                <a:sym typeface="Calibri (MS)"/>
              </a:rPr>
              <a:t>《自行车运动需要什么——中旅杯迎回归自行车赛采访札记》：报道专业器材技术差距及不同赛事车型。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9919901" y="7674237"/>
            <a:ext cx="7230615" cy="13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"/>
              </a:lnSpc>
            </a:pPr>
            <a:r>
              <a:rPr lang="en-US" sz="653">
                <a:solidFill>
                  <a:srgbClr val="675F53"/>
                </a:solidFill>
                <a:latin typeface="Calibri (MS)"/>
                <a:ea typeface="Calibri (MS)"/>
                <a:cs typeface="Calibri (MS)"/>
                <a:sym typeface="Calibri (MS)"/>
              </a:rPr>
              <a:t>来源性质：同期报刊全文可查：cn.govopendata.com/renminribao/1999/12/01/8/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9341926" y="8023185"/>
            <a:ext cx="8247578" cy="771519"/>
            <a:chOff x="0" y="0"/>
            <a:chExt cx="21725585" cy="203231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1725510" cy="2032254"/>
            </a:xfrm>
            <a:custGeom>
              <a:avLst/>
              <a:gdLst/>
              <a:ahLst/>
              <a:cxnLst/>
              <a:rect r="r" b="b" t="t" l="l"/>
              <a:pathLst>
                <a:path h="2032254" w="2172551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1522310" y="0"/>
                  </a:lnTo>
                  <a:cubicBezTo>
                    <a:pt x="21634577" y="0"/>
                    <a:pt x="21725510" y="90932"/>
                    <a:pt x="21725510" y="203200"/>
                  </a:cubicBezTo>
                  <a:lnTo>
                    <a:pt x="21725510" y="1829054"/>
                  </a:lnTo>
                  <a:cubicBezTo>
                    <a:pt x="21725510" y="1941322"/>
                    <a:pt x="21634577" y="2032254"/>
                    <a:pt x="21522310" y="2032254"/>
                  </a:cubicBezTo>
                  <a:lnTo>
                    <a:pt x="203200" y="2032254"/>
                  </a:lnTo>
                  <a:cubicBezTo>
                    <a:pt x="90932" y="2032254"/>
                    <a:pt x="0" y="1941322"/>
                    <a:pt x="0" y="1829054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CCEB8"/>
              </a:solidFill>
              <a:prstDash val="solid"/>
              <a:miter/>
            </a:ln>
          </p:spPr>
        </p:sp>
      </p:grpSp>
      <p:sp>
        <p:nvSpPr>
          <p:cNvPr name="TextBox 85" id="85"/>
          <p:cNvSpPr txBox="true"/>
          <p:nvPr/>
        </p:nvSpPr>
        <p:spPr>
          <a:xfrm rot="0">
            <a:off x="9496071" y="8184018"/>
            <a:ext cx="247865" cy="16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5"/>
              </a:lnSpc>
            </a:pPr>
            <a:r>
              <a:rPr lang="en-US" b="true" sz="987" spc="19">
                <a:solidFill>
                  <a:srgbClr val="973127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9919901" y="8128434"/>
            <a:ext cx="7022173" cy="180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"/>
              </a:lnSpc>
            </a:pPr>
            <a:r>
              <a:rPr lang="en-US" b="true" sz="1063" spc="21">
                <a:solidFill>
                  <a:srgbClr val="2D2721"/>
                </a:solidFill>
                <a:latin typeface="Arimo Bold"/>
                <a:ea typeface="Arimo Bold"/>
                <a:cs typeface="Arimo Bold"/>
                <a:sym typeface="Arimo Bold"/>
              </a:rPr>
              <a:t>1993-04-11｜《北京日报》第2版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919901" y="8345620"/>
            <a:ext cx="7230615" cy="17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9"/>
              </a:lnSpc>
            </a:pPr>
            <a:r>
              <a:rPr lang="en-US" sz="782">
                <a:solidFill>
                  <a:srgbClr val="2D2721"/>
                </a:solidFill>
                <a:latin typeface="Calibri (MS)"/>
                <a:ea typeface="Calibri (MS)"/>
                <a:cs typeface="Calibri (MS)"/>
                <a:sym typeface="Calibri (MS)"/>
              </a:rPr>
              <a:t>《时装化——自行车需求新特点》：报道北京市场山地车、变速车及中高档车型需求。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919901" y="8549687"/>
            <a:ext cx="7230615" cy="13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"/>
              </a:lnSpc>
            </a:pPr>
            <a:r>
              <a:rPr lang="en-US" sz="653">
                <a:solidFill>
                  <a:srgbClr val="675F53"/>
                </a:solidFill>
                <a:latin typeface="Calibri (MS)"/>
                <a:ea typeface="Calibri (MS)"/>
                <a:cs typeface="Calibri (MS)"/>
                <a:sym typeface="Calibri (MS)"/>
              </a:rPr>
              <a:t>来源性质：早期市场背景；由2017年《人民周刊》回顾引录。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9341926" y="8898635"/>
            <a:ext cx="8247578" cy="771519"/>
            <a:chOff x="0" y="0"/>
            <a:chExt cx="21725585" cy="203231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1725510" cy="2032254"/>
            </a:xfrm>
            <a:custGeom>
              <a:avLst/>
              <a:gdLst/>
              <a:ahLst/>
              <a:cxnLst/>
              <a:rect r="r" b="b" t="t" l="l"/>
              <a:pathLst>
                <a:path h="2032254" w="2172551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1522310" y="0"/>
                  </a:lnTo>
                  <a:cubicBezTo>
                    <a:pt x="21634577" y="0"/>
                    <a:pt x="21725510" y="90932"/>
                    <a:pt x="21725510" y="203200"/>
                  </a:cubicBezTo>
                  <a:lnTo>
                    <a:pt x="21725510" y="1829054"/>
                  </a:lnTo>
                  <a:cubicBezTo>
                    <a:pt x="21725510" y="1941322"/>
                    <a:pt x="21634577" y="2032254"/>
                    <a:pt x="21522310" y="2032254"/>
                  </a:cubicBezTo>
                  <a:lnTo>
                    <a:pt x="203200" y="2032254"/>
                  </a:lnTo>
                  <a:cubicBezTo>
                    <a:pt x="90932" y="2032254"/>
                    <a:pt x="0" y="1941322"/>
                    <a:pt x="0" y="1829054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CCEB8"/>
              </a:solidFill>
              <a:prstDash val="solid"/>
              <a:miter/>
            </a:ln>
          </p:spPr>
        </p:sp>
      </p:grpSp>
      <p:sp>
        <p:nvSpPr>
          <p:cNvPr name="TextBox 91" id="91"/>
          <p:cNvSpPr txBox="true"/>
          <p:nvPr/>
        </p:nvSpPr>
        <p:spPr>
          <a:xfrm rot="0">
            <a:off x="9496071" y="9059468"/>
            <a:ext cx="247865" cy="16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5"/>
              </a:lnSpc>
            </a:pPr>
            <a:r>
              <a:rPr lang="en-US" b="true" sz="987" spc="19">
                <a:solidFill>
                  <a:srgbClr val="973127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919901" y="9003884"/>
            <a:ext cx="7022173" cy="180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"/>
              </a:lnSpc>
            </a:pPr>
            <a:r>
              <a:rPr lang="en-US" b="true" sz="1063" spc="21">
                <a:solidFill>
                  <a:srgbClr val="2D2721"/>
                </a:solidFill>
                <a:latin typeface="Arimo Bold"/>
                <a:ea typeface="Arimo Bold"/>
                <a:cs typeface="Arimo Bold"/>
                <a:sym typeface="Arimo Bold"/>
              </a:rPr>
              <a:t>2007-01-18｜广州自行车产业回顾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9919901" y="9221070"/>
            <a:ext cx="7230615" cy="17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9"/>
              </a:lnSpc>
            </a:pPr>
            <a:r>
              <a:rPr lang="en-US" sz="782">
                <a:solidFill>
                  <a:srgbClr val="2D2721"/>
                </a:solidFill>
                <a:latin typeface="Calibri (MS)"/>
                <a:ea typeface="Calibri (MS)"/>
                <a:cs typeface="Calibri (MS)"/>
                <a:sym typeface="Calibri (MS)"/>
              </a:rPr>
              <a:t>五羊自行车厂技术人员回忆开发10/18/21速变速运动及山地车、1994—1999年陷入经营困难。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9740930" y="9430521"/>
            <a:ext cx="7088038" cy="13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"/>
              </a:lnSpc>
            </a:pPr>
            <a:r>
              <a:rPr lang="en-US" sz="640">
                <a:solidFill>
                  <a:srgbClr val="675F53"/>
                </a:solidFill>
                <a:latin typeface="Calibri (MS)"/>
                <a:ea typeface="Calibri (MS)"/>
                <a:cs typeface="Calibri (MS)"/>
                <a:sym typeface="Calibri (MS)"/>
              </a:rPr>
              <a:t>来源性质：后期访谈资料，支持国内品牌也在升级与转型，不是1998原版报道。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8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1547" y="401879"/>
            <a:ext cx="6103877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29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PART 03 · 深度访谈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91547" y="811435"/>
            <a:ext cx="16673455" cy="758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三代人的自行车记忆：历史如何进入家庭？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2723" y="1686858"/>
            <a:ext cx="16536181" cy="54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跨代际口述补足报刊与行业材料难以呈现的生活细节；以下为整理稿中的记忆线索。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89003" y="2353847"/>
            <a:ext cx="1002621" cy="76067"/>
            <a:chOff x="0" y="0"/>
            <a:chExt cx="1336827" cy="1014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6802" cy="101473"/>
            </a:xfrm>
            <a:custGeom>
              <a:avLst/>
              <a:gdLst/>
              <a:ahLst/>
              <a:cxnLst/>
              <a:rect r="r" b="b" t="t" l="l"/>
              <a:pathLst>
                <a:path h="101473" w="1336802">
                  <a:moveTo>
                    <a:pt x="0" y="0"/>
                  </a:moveTo>
                  <a:lnTo>
                    <a:pt x="1336802" y="0"/>
                  </a:lnTo>
                  <a:lnTo>
                    <a:pt x="1336802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9D2B22"/>
            </a:solidFill>
            <a:ln w="14299" cap="sq">
              <a:solidFill>
                <a:srgbClr val="9D2B22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845955" y="2353847"/>
            <a:ext cx="15594130" cy="30766"/>
            <a:chOff x="0" y="0"/>
            <a:chExt cx="20792173" cy="410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92187" cy="41021"/>
            </a:xfrm>
            <a:custGeom>
              <a:avLst/>
              <a:gdLst/>
              <a:ahLst/>
              <a:cxnLst/>
              <a:rect r="r" b="b" t="t" l="l"/>
              <a:pathLst>
                <a:path h="41021" w="20792187">
                  <a:moveTo>
                    <a:pt x="0" y="0"/>
                  </a:moveTo>
                  <a:lnTo>
                    <a:pt x="20792187" y="0"/>
                  </a:lnTo>
                  <a:lnTo>
                    <a:pt x="20792187" y="41021"/>
                  </a:lnTo>
                  <a:lnTo>
                    <a:pt x="0" y="41021"/>
                  </a:lnTo>
                  <a:close/>
                </a:path>
              </a:pathLst>
            </a:custGeom>
            <a:solidFill>
              <a:srgbClr val="DED3C2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6989076" y="401879"/>
            <a:ext cx="503368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b="true" sz="1501" spc="29">
                <a:solidFill>
                  <a:srgbClr val="685E52"/>
                </a:solidFill>
                <a:latin typeface="Arimo Bold"/>
                <a:ea typeface="Arimo Bold"/>
                <a:cs typeface="Arimo Bold"/>
                <a:sym typeface="Arimo Bold"/>
              </a:rPr>
              <a:t>07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6268" y="2806827"/>
            <a:ext cx="5257905" cy="6259954"/>
            <a:chOff x="0" y="0"/>
            <a:chExt cx="7010540" cy="83466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10527" cy="8346567"/>
            </a:xfrm>
            <a:custGeom>
              <a:avLst/>
              <a:gdLst/>
              <a:ahLst/>
              <a:cxnLst/>
              <a:rect r="r" b="b" t="t" l="l"/>
              <a:pathLst>
                <a:path h="8346567" w="7010527">
                  <a:moveTo>
                    <a:pt x="0" y="841248"/>
                  </a:moveTo>
                  <a:cubicBezTo>
                    <a:pt x="0" y="376682"/>
                    <a:pt x="376682" y="0"/>
                    <a:pt x="841248" y="0"/>
                  </a:cubicBezTo>
                  <a:lnTo>
                    <a:pt x="6169279" y="0"/>
                  </a:lnTo>
                  <a:cubicBezTo>
                    <a:pt x="6633845" y="0"/>
                    <a:pt x="7010527" y="376682"/>
                    <a:pt x="7010527" y="841248"/>
                  </a:cubicBezTo>
                  <a:lnTo>
                    <a:pt x="7010527" y="7505319"/>
                  </a:lnTo>
                  <a:cubicBezTo>
                    <a:pt x="7010527" y="7969885"/>
                    <a:pt x="6633845" y="8346567"/>
                    <a:pt x="6169279" y="8346567"/>
                  </a:cubicBezTo>
                  <a:lnTo>
                    <a:pt x="841248" y="8346567"/>
                  </a:lnTo>
                  <a:cubicBezTo>
                    <a:pt x="376682" y="8346567"/>
                    <a:pt x="0" y="7970012"/>
                    <a:pt x="0" y="7505319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26268" y="2806827"/>
            <a:ext cx="5257905" cy="192748"/>
            <a:chOff x="0" y="0"/>
            <a:chExt cx="7010540" cy="2569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10527" cy="257048"/>
            </a:xfrm>
            <a:custGeom>
              <a:avLst/>
              <a:gdLst/>
              <a:ahLst/>
              <a:cxnLst/>
              <a:rect r="r" b="b" t="t" l="l"/>
              <a:pathLst>
                <a:path h="257048" w="7010527">
                  <a:moveTo>
                    <a:pt x="0" y="0"/>
                  </a:moveTo>
                  <a:lnTo>
                    <a:pt x="7010527" y="0"/>
                  </a:lnTo>
                  <a:lnTo>
                    <a:pt x="7010527" y="257048"/>
                  </a:lnTo>
                  <a:lnTo>
                    <a:pt x="0" y="257048"/>
                  </a:lnTo>
                  <a:close/>
                </a:path>
              </a:pathLst>
            </a:custGeom>
            <a:solidFill>
              <a:srgbClr val="9D2B22"/>
            </a:solidFill>
            <a:ln w="14299" cap="sq">
              <a:solidFill>
                <a:srgbClr val="9D2B22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71978" y="3257036"/>
            <a:ext cx="456648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b="true" sz="2251" spc="44">
                <a:solidFill>
                  <a:srgbClr val="2A2723"/>
                </a:solidFill>
                <a:latin typeface="Arimo Bold"/>
                <a:ea typeface="Arimo Bold"/>
                <a:cs typeface="Arimo Bold"/>
                <a:sym typeface="Arimo Bold"/>
              </a:rPr>
              <a:t>受访者A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1978" y="3951770"/>
            <a:ext cx="452529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50年代代表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1978" y="4556874"/>
            <a:ext cx="4525299" cy="89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b="true" sz="2401" spc="47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“那时候一家有一辆车就了不起了。”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28258" y="5648258"/>
            <a:ext cx="4612748" cy="41748"/>
            <a:chOff x="0" y="0"/>
            <a:chExt cx="6150331" cy="556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50356" cy="55626"/>
            </a:xfrm>
            <a:custGeom>
              <a:avLst/>
              <a:gdLst/>
              <a:ahLst/>
              <a:cxnLst/>
              <a:rect r="r" b="b" t="t" l="l"/>
              <a:pathLst>
                <a:path h="55626" w="6150356">
                  <a:moveTo>
                    <a:pt x="0" y="0"/>
                  </a:moveTo>
                  <a:lnTo>
                    <a:pt x="6150356" y="0"/>
                  </a:lnTo>
                  <a:lnTo>
                    <a:pt x="6150356" y="55626"/>
                  </a:lnTo>
                  <a:lnTo>
                    <a:pt x="0" y="55626"/>
                  </a:lnTo>
                  <a:close/>
                </a:path>
              </a:pathLst>
            </a:custGeom>
            <a:solidFill>
              <a:srgbClr val="DED3C2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71978" y="5928417"/>
            <a:ext cx="4525299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A2723"/>
                </a:solidFill>
                <a:latin typeface="Calibri (MS)"/>
                <a:ea typeface="Calibri (MS)"/>
                <a:cs typeface="Calibri (MS)"/>
                <a:sym typeface="Calibri (MS)"/>
              </a:rPr>
              <a:t>结婚初期生活用品有限；自行车后来逐步添置，承担上班、买菜、看电影与接送孩子等任务。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1978" y="7932525"/>
            <a:ext cx="452529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685E5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家庭积蓄 · 日常照料 · 实用消费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664033" y="2806827"/>
            <a:ext cx="5257905" cy="6259954"/>
            <a:chOff x="0" y="0"/>
            <a:chExt cx="7010540" cy="834660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10527" cy="8346567"/>
            </a:xfrm>
            <a:custGeom>
              <a:avLst/>
              <a:gdLst/>
              <a:ahLst/>
              <a:cxnLst/>
              <a:rect r="r" b="b" t="t" l="l"/>
              <a:pathLst>
                <a:path h="8346567" w="7010527">
                  <a:moveTo>
                    <a:pt x="0" y="841248"/>
                  </a:moveTo>
                  <a:cubicBezTo>
                    <a:pt x="0" y="376682"/>
                    <a:pt x="376682" y="0"/>
                    <a:pt x="841248" y="0"/>
                  </a:cubicBezTo>
                  <a:lnTo>
                    <a:pt x="6169279" y="0"/>
                  </a:lnTo>
                  <a:cubicBezTo>
                    <a:pt x="6633845" y="0"/>
                    <a:pt x="7010527" y="376682"/>
                    <a:pt x="7010527" y="841248"/>
                  </a:cubicBezTo>
                  <a:lnTo>
                    <a:pt x="7010527" y="7505319"/>
                  </a:lnTo>
                  <a:cubicBezTo>
                    <a:pt x="7010527" y="7969885"/>
                    <a:pt x="6633845" y="8346567"/>
                    <a:pt x="6169279" y="8346567"/>
                  </a:cubicBezTo>
                  <a:lnTo>
                    <a:pt x="841248" y="8346567"/>
                  </a:lnTo>
                  <a:cubicBezTo>
                    <a:pt x="376682" y="8346567"/>
                    <a:pt x="0" y="7970012"/>
                    <a:pt x="0" y="7505319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664033" y="2806827"/>
            <a:ext cx="5257905" cy="192748"/>
            <a:chOff x="0" y="0"/>
            <a:chExt cx="7010540" cy="2569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10527" cy="257048"/>
            </a:xfrm>
            <a:custGeom>
              <a:avLst/>
              <a:gdLst/>
              <a:ahLst/>
              <a:cxnLst/>
              <a:rect r="r" b="b" t="t" l="l"/>
              <a:pathLst>
                <a:path h="257048" w="7010527">
                  <a:moveTo>
                    <a:pt x="0" y="0"/>
                  </a:moveTo>
                  <a:lnTo>
                    <a:pt x="7010527" y="0"/>
                  </a:lnTo>
                  <a:lnTo>
                    <a:pt x="7010527" y="257048"/>
                  </a:lnTo>
                  <a:lnTo>
                    <a:pt x="0" y="257048"/>
                  </a:lnTo>
                  <a:close/>
                </a:path>
              </a:pathLst>
            </a:custGeom>
            <a:solidFill>
              <a:srgbClr val="B58B4E"/>
            </a:solidFill>
            <a:ln w="14299" cap="sq">
              <a:solidFill>
                <a:srgbClr val="B58B4E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7009752" y="3257036"/>
            <a:ext cx="456648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b="true" sz="2251" spc="44">
                <a:solidFill>
                  <a:srgbClr val="2A2723"/>
                </a:solidFill>
                <a:latin typeface="Arimo Bold"/>
                <a:ea typeface="Arimo Bold"/>
                <a:cs typeface="Arimo Bold"/>
                <a:sym typeface="Arimo Bold"/>
              </a:rPr>
              <a:t>受访者B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09752" y="3951770"/>
            <a:ext cx="452529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70年代代表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09752" y="4556874"/>
            <a:ext cx="4525299" cy="89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b="true" sz="2401" spc="47">
                <a:solidFill>
                  <a:srgbClr val="B58B4E"/>
                </a:solidFill>
                <a:latin typeface="Arimo Bold"/>
                <a:ea typeface="Arimo Bold"/>
                <a:cs typeface="Arimo Bold"/>
                <a:sym typeface="Arimo Bold"/>
              </a:rPr>
              <a:t>“以前的自行车像头牛一样。”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966023" y="5648258"/>
            <a:ext cx="4612748" cy="41748"/>
            <a:chOff x="0" y="0"/>
            <a:chExt cx="6150331" cy="556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150356" cy="55626"/>
            </a:xfrm>
            <a:custGeom>
              <a:avLst/>
              <a:gdLst/>
              <a:ahLst/>
              <a:cxnLst/>
              <a:rect r="r" b="b" t="t" l="l"/>
              <a:pathLst>
                <a:path h="55626" w="6150356">
                  <a:moveTo>
                    <a:pt x="0" y="0"/>
                  </a:moveTo>
                  <a:lnTo>
                    <a:pt x="6150356" y="0"/>
                  </a:lnTo>
                  <a:lnTo>
                    <a:pt x="6150356" y="55626"/>
                  </a:lnTo>
                  <a:lnTo>
                    <a:pt x="0" y="55626"/>
                  </a:lnTo>
                  <a:close/>
                </a:path>
              </a:pathLst>
            </a:custGeom>
            <a:solidFill>
              <a:srgbClr val="DED3C2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7009752" y="5928417"/>
            <a:ext cx="4525299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A2723"/>
                </a:solidFill>
                <a:latin typeface="Calibri (MS)"/>
                <a:ea typeface="Calibri (MS)"/>
                <a:cs typeface="Calibri (MS)"/>
                <a:sym typeface="Calibri (MS)"/>
              </a:rPr>
              <a:t>从全家共用的28英寸永久牌，到26、24、22英寸及儿童车，车辆逐渐按年龄与用途细分。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09752" y="7932525"/>
            <a:ext cx="452529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685E5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车型细分 · 审美变化 · 儿童专用化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401807" y="2806827"/>
            <a:ext cx="5257905" cy="6259954"/>
            <a:chOff x="0" y="0"/>
            <a:chExt cx="7010540" cy="834660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10527" cy="8346567"/>
            </a:xfrm>
            <a:custGeom>
              <a:avLst/>
              <a:gdLst/>
              <a:ahLst/>
              <a:cxnLst/>
              <a:rect r="r" b="b" t="t" l="l"/>
              <a:pathLst>
                <a:path h="8346567" w="7010527">
                  <a:moveTo>
                    <a:pt x="0" y="841248"/>
                  </a:moveTo>
                  <a:cubicBezTo>
                    <a:pt x="0" y="376682"/>
                    <a:pt x="376682" y="0"/>
                    <a:pt x="841248" y="0"/>
                  </a:cubicBezTo>
                  <a:lnTo>
                    <a:pt x="6169279" y="0"/>
                  </a:lnTo>
                  <a:cubicBezTo>
                    <a:pt x="6633845" y="0"/>
                    <a:pt x="7010527" y="376682"/>
                    <a:pt x="7010527" y="841248"/>
                  </a:cubicBezTo>
                  <a:lnTo>
                    <a:pt x="7010527" y="7505319"/>
                  </a:lnTo>
                  <a:cubicBezTo>
                    <a:pt x="7010527" y="7969885"/>
                    <a:pt x="6633845" y="8346567"/>
                    <a:pt x="6169279" y="8346567"/>
                  </a:cubicBezTo>
                  <a:lnTo>
                    <a:pt x="841248" y="8346567"/>
                  </a:lnTo>
                  <a:cubicBezTo>
                    <a:pt x="376682" y="8346567"/>
                    <a:pt x="0" y="7970012"/>
                    <a:pt x="0" y="7505319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401807" y="2806827"/>
            <a:ext cx="5257905" cy="192748"/>
            <a:chOff x="0" y="0"/>
            <a:chExt cx="7010540" cy="25699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10527" cy="257048"/>
            </a:xfrm>
            <a:custGeom>
              <a:avLst/>
              <a:gdLst/>
              <a:ahLst/>
              <a:cxnLst/>
              <a:rect r="r" b="b" t="t" l="l"/>
              <a:pathLst>
                <a:path h="257048" w="7010527">
                  <a:moveTo>
                    <a:pt x="0" y="0"/>
                  </a:moveTo>
                  <a:lnTo>
                    <a:pt x="7010527" y="0"/>
                  </a:lnTo>
                  <a:lnTo>
                    <a:pt x="7010527" y="257048"/>
                  </a:lnTo>
                  <a:lnTo>
                    <a:pt x="0" y="257048"/>
                  </a:lnTo>
                  <a:close/>
                </a:path>
              </a:pathLst>
            </a:custGeom>
            <a:solidFill>
              <a:srgbClr val="4C657D"/>
            </a:solidFill>
            <a:ln w="14299" cap="sq">
              <a:solidFill>
                <a:srgbClr val="4C657D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2747527" y="3218936"/>
            <a:ext cx="456648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受访者C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747527" y="3951770"/>
            <a:ext cx="452529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50年代代表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47527" y="4556874"/>
            <a:ext cx="4525299" cy="89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b="true" sz="2401" spc="47">
                <a:solidFill>
                  <a:srgbClr val="4C657D"/>
                </a:solidFill>
                <a:latin typeface="Arimo Bold"/>
                <a:ea typeface="Arimo Bold"/>
                <a:cs typeface="Arimo Bold"/>
                <a:sym typeface="Arimo Bold"/>
              </a:rPr>
              <a:t>“买车要靠票，品牌更多靠口碑。”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703797" y="5648258"/>
            <a:ext cx="4612748" cy="41748"/>
            <a:chOff x="0" y="0"/>
            <a:chExt cx="6150331" cy="556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50356" cy="55626"/>
            </a:xfrm>
            <a:custGeom>
              <a:avLst/>
              <a:gdLst/>
              <a:ahLst/>
              <a:cxnLst/>
              <a:rect r="r" b="b" t="t" l="l"/>
              <a:pathLst>
                <a:path h="55626" w="6150356">
                  <a:moveTo>
                    <a:pt x="0" y="0"/>
                  </a:moveTo>
                  <a:lnTo>
                    <a:pt x="6150356" y="0"/>
                  </a:lnTo>
                  <a:lnTo>
                    <a:pt x="6150356" y="55626"/>
                  </a:lnTo>
                  <a:lnTo>
                    <a:pt x="0" y="55626"/>
                  </a:lnTo>
                  <a:close/>
                </a:path>
              </a:pathLst>
            </a:custGeom>
            <a:solidFill>
              <a:srgbClr val="DED3C2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2747527" y="5928417"/>
            <a:ext cx="4525299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A2723"/>
                </a:solidFill>
                <a:latin typeface="Calibri (MS)"/>
                <a:ea typeface="Calibri (MS)"/>
                <a:cs typeface="Calibri (MS)"/>
                <a:sym typeface="Calibri (MS)"/>
              </a:rPr>
              <a:t>回忆1978年前后在供销社购买永久牌，需要票证、积蓄约半年；具体年份与细节仍需核实。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747527" y="7932525"/>
            <a:ext cx="452529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685E5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票证购买 · 熟人传播 · 门店认知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66076" y="9305192"/>
            <a:ext cx="1612438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9D2B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方法说明：口述史呈现的是个人与家庭记忆；原话、年份、价格、品牌及儿童车归属须经回访或实物材料再次确认。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8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1547" y="401879"/>
            <a:ext cx="6103877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29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PART 03 · 深度访谈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91547" y="811435"/>
            <a:ext cx="16673455" cy="758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访谈发现：宏观叙事与普通家庭生活之间的距离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2723" y="1686858"/>
            <a:ext cx="16536181" cy="54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口述材料不是对宏观史料的简单重复，而是帮助我们辨认“社会变化如何被具体生活经验接住”。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89003" y="2353847"/>
            <a:ext cx="1002621" cy="76067"/>
            <a:chOff x="0" y="0"/>
            <a:chExt cx="1336827" cy="1014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6802" cy="101473"/>
            </a:xfrm>
            <a:custGeom>
              <a:avLst/>
              <a:gdLst/>
              <a:ahLst/>
              <a:cxnLst/>
              <a:rect r="r" b="b" t="t" l="l"/>
              <a:pathLst>
                <a:path h="101473" w="1336802">
                  <a:moveTo>
                    <a:pt x="0" y="0"/>
                  </a:moveTo>
                  <a:lnTo>
                    <a:pt x="1336802" y="0"/>
                  </a:lnTo>
                  <a:lnTo>
                    <a:pt x="1336802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9D2B22"/>
            </a:solidFill>
            <a:ln w="14299" cap="sq">
              <a:solidFill>
                <a:srgbClr val="9D2B22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845955" y="2353847"/>
            <a:ext cx="15594130" cy="30766"/>
            <a:chOff x="0" y="0"/>
            <a:chExt cx="20792173" cy="410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92187" cy="41021"/>
            </a:xfrm>
            <a:custGeom>
              <a:avLst/>
              <a:gdLst/>
              <a:ahLst/>
              <a:cxnLst/>
              <a:rect r="r" b="b" t="t" l="l"/>
              <a:pathLst>
                <a:path h="41021" w="20792187">
                  <a:moveTo>
                    <a:pt x="0" y="0"/>
                  </a:moveTo>
                  <a:lnTo>
                    <a:pt x="20792187" y="0"/>
                  </a:lnTo>
                  <a:lnTo>
                    <a:pt x="20792187" y="41021"/>
                  </a:lnTo>
                  <a:lnTo>
                    <a:pt x="0" y="41021"/>
                  </a:lnTo>
                  <a:close/>
                </a:path>
              </a:pathLst>
            </a:custGeom>
            <a:solidFill>
              <a:srgbClr val="DED3C2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6989076" y="401879"/>
            <a:ext cx="503368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b="true" sz="1501" spc="29">
                <a:solidFill>
                  <a:srgbClr val="685E52"/>
                </a:solidFill>
                <a:latin typeface="Arimo Bold"/>
                <a:ea typeface="Arimo Bold"/>
                <a:cs typeface="Arimo Bold"/>
                <a:sym typeface="Arimo Bold"/>
              </a:rPr>
              <a:t>08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1170" y="2765650"/>
            <a:ext cx="16280463" cy="1524238"/>
            <a:chOff x="0" y="0"/>
            <a:chExt cx="21707284" cy="20323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07221" cy="2032254"/>
            </a:xfrm>
            <a:custGeom>
              <a:avLst/>
              <a:gdLst/>
              <a:ahLst/>
              <a:cxnLst/>
              <a:rect r="r" b="b" t="t" l="l"/>
              <a:pathLst>
                <a:path h="2032254" w="21707221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21463381" y="0"/>
                  </a:lnTo>
                  <a:cubicBezTo>
                    <a:pt x="21598128" y="0"/>
                    <a:pt x="21707221" y="109220"/>
                    <a:pt x="21707221" y="243840"/>
                  </a:cubicBezTo>
                  <a:lnTo>
                    <a:pt x="21707221" y="1788414"/>
                  </a:lnTo>
                  <a:cubicBezTo>
                    <a:pt x="21707221" y="1923161"/>
                    <a:pt x="21598001" y="2032254"/>
                    <a:pt x="21463381" y="2032254"/>
                  </a:cubicBezTo>
                  <a:lnTo>
                    <a:pt x="243840" y="2032254"/>
                  </a:lnTo>
                  <a:cubicBezTo>
                    <a:pt x="109093" y="2032254"/>
                    <a:pt x="0" y="1923034"/>
                    <a:pt x="0" y="1788414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340615" y="3127955"/>
            <a:ext cx="681819" cy="52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b="true" sz="3152" spc="62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01488" y="3193418"/>
            <a:ext cx="3633064" cy="505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消费理想 ≠ 家庭现实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10688" y="2885239"/>
            <a:ext cx="6721573" cy="120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101" spc="41">
                <a:solidFill>
                  <a:srgbClr val="2A2723"/>
                </a:solidFill>
                <a:latin typeface="Arimo"/>
                <a:ea typeface="Arimo"/>
                <a:cs typeface="Arimo"/>
                <a:sym typeface="Arimo"/>
              </a:rPr>
              <a:t>“三转一响”等时代记忆具有代表性，但不等于每个家庭都能在结婚时一次性拥有。受访者的家庭用品是在婚后逐步添置的。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05502" y="3032705"/>
            <a:ext cx="3976230" cy="83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101" b="true">
                <a:solidFill>
                  <a:srgbClr val="9D2B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研究认识：不要把消费理想直接当作普遍生活事实。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1170" y="4632484"/>
            <a:ext cx="16280463" cy="1524238"/>
            <a:chOff x="0" y="0"/>
            <a:chExt cx="21707284" cy="20323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07221" cy="2032254"/>
            </a:xfrm>
            <a:custGeom>
              <a:avLst/>
              <a:gdLst/>
              <a:ahLst/>
              <a:cxnLst/>
              <a:rect r="r" b="b" t="t" l="l"/>
              <a:pathLst>
                <a:path h="2032254" w="21707221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21463381" y="0"/>
                  </a:lnTo>
                  <a:cubicBezTo>
                    <a:pt x="21598128" y="0"/>
                    <a:pt x="21707221" y="109220"/>
                    <a:pt x="21707221" y="243840"/>
                  </a:cubicBezTo>
                  <a:lnTo>
                    <a:pt x="21707221" y="1788414"/>
                  </a:lnTo>
                  <a:cubicBezTo>
                    <a:pt x="21707221" y="1923161"/>
                    <a:pt x="21598001" y="2032254"/>
                    <a:pt x="21463381" y="2032254"/>
                  </a:cubicBezTo>
                  <a:lnTo>
                    <a:pt x="243840" y="2032254"/>
                  </a:lnTo>
                  <a:cubicBezTo>
                    <a:pt x="109093" y="2032254"/>
                    <a:pt x="0" y="1923034"/>
                    <a:pt x="0" y="1788414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340615" y="5046121"/>
            <a:ext cx="681819" cy="52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b="true" sz="3152" spc="62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01488" y="5062923"/>
            <a:ext cx="3633064" cy="505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广告接触 ≠ 购买决定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10688" y="4906563"/>
            <a:ext cx="6721573" cy="79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77"/>
              </a:lnSpc>
              <a:spcBef>
                <a:spcPct val="0"/>
              </a:spcBef>
            </a:pPr>
            <a:r>
              <a:rPr lang="en-US" sz="2101" spc="41" strike="noStrike" u="none">
                <a:solidFill>
                  <a:srgbClr val="2A2723"/>
                </a:solidFill>
                <a:latin typeface="Arimo"/>
                <a:ea typeface="Arimo"/>
                <a:cs typeface="Arimo"/>
                <a:sym typeface="Arimo"/>
              </a:rPr>
              <a:t>受访者记不清具体广告，购买更依赖熟人介绍、票证机会、耐用性判断与门店展示。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12845" y="4918760"/>
            <a:ext cx="3976230" cy="83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77"/>
              </a:lnSpc>
              <a:spcBef>
                <a:spcPct val="0"/>
              </a:spcBef>
            </a:pPr>
            <a:r>
              <a:rPr lang="en-US" b="true" sz="2101" strike="noStrike" u="none">
                <a:solidFill>
                  <a:srgbClr val="9D2B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研究认识：广告存在、被接触、影响决策，是三个不同问题。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1170" y="6499317"/>
            <a:ext cx="16280463" cy="1524238"/>
            <a:chOff x="0" y="0"/>
            <a:chExt cx="21707284" cy="20323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07221" cy="2032254"/>
            </a:xfrm>
            <a:custGeom>
              <a:avLst/>
              <a:gdLst/>
              <a:ahLst/>
              <a:cxnLst/>
              <a:rect r="r" b="b" t="t" l="l"/>
              <a:pathLst>
                <a:path h="2032254" w="21707221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21463381" y="0"/>
                  </a:lnTo>
                  <a:cubicBezTo>
                    <a:pt x="21598128" y="0"/>
                    <a:pt x="21707221" y="109220"/>
                    <a:pt x="21707221" y="243840"/>
                  </a:cubicBezTo>
                  <a:lnTo>
                    <a:pt x="21707221" y="1788414"/>
                  </a:lnTo>
                  <a:cubicBezTo>
                    <a:pt x="21707221" y="1923161"/>
                    <a:pt x="21598001" y="2032254"/>
                    <a:pt x="21463381" y="2032254"/>
                  </a:cubicBezTo>
                  <a:lnTo>
                    <a:pt x="243840" y="2032254"/>
                  </a:lnTo>
                  <a:cubicBezTo>
                    <a:pt x="109093" y="2032254"/>
                    <a:pt x="0" y="1923034"/>
                    <a:pt x="0" y="1788414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340615" y="6990702"/>
            <a:ext cx="681819" cy="52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b="true" sz="3152" spc="62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01488" y="7028188"/>
            <a:ext cx="3633064" cy="505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家庭角色持续分化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610688" y="6789420"/>
            <a:ext cx="6721573" cy="79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77"/>
              </a:lnSpc>
              <a:spcBef>
                <a:spcPct val="0"/>
              </a:spcBef>
            </a:pPr>
            <a:r>
              <a:rPr lang="en-US" sz="2101" spc="41" strike="noStrike" u="none">
                <a:solidFill>
                  <a:srgbClr val="2A2723"/>
                </a:solidFill>
                <a:latin typeface="Arimo"/>
                <a:ea typeface="Arimo"/>
                <a:cs typeface="Arimo"/>
                <a:sym typeface="Arimo"/>
              </a:rPr>
              <a:t>自行车从全家共用的28英寸车，逐渐扩展为儿童车、轻便车、变速车；之后又与摩托车、电动车和汽车并存。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05502" y="6785372"/>
            <a:ext cx="3976230" cy="83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77"/>
              </a:lnSpc>
              <a:spcBef>
                <a:spcPct val="0"/>
              </a:spcBef>
            </a:pPr>
            <a:r>
              <a:rPr lang="en-US" b="true" sz="2101" strike="noStrike" u="none">
                <a:solidFill>
                  <a:srgbClr val="9D2B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研究认识：车辆变化折射消费能力、劳动分工与交通选择。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22356" y="8613229"/>
            <a:ext cx="16184375" cy="810444"/>
            <a:chOff x="0" y="0"/>
            <a:chExt cx="21579167" cy="10805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579204" cy="1080643"/>
            </a:xfrm>
            <a:custGeom>
              <a:avLst/>
              <a:gdLst/>
              <a:ahLst/>
              <a:cxnLst/>
              <a:rect r="r" b="b" t="t" l="l"/>
              <a:pathLst>
                <a:path h="1080643" w="21579204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21449537" y="0"/>
                  </a:lnTo>
                  <a:cubicBezTo>
                    <a:pt x="21521165" y="0"/>
                    <a:pt x="21579204" y="58039"/>
                    <a:pt x="21579204" y="129667"/>
                  </a:cubicBezTo>
                  <a:lnTo>
                    <a:pt x="21579204" y="950976"/>
                  </a:lnTo>
                  <a:cubicBezTo>
                    <a:pt x="21579204" y="1022604"/>
                    <a:pt x="21521165" y="1080643"/>
                    <a:pt x="21449537" y="1080643"/>
                  </a:cubicBezTo>
                  <a:lnTo>
                    <a:pt x="129667" y="1080643"/>
                  </a:lnTo>
                  <a:cubicBezTo>
                    <a:pt x="58039" y="1080643"/>
                    <a:pt x="0" y="1022604"/>
                    <a:pt x="0" y="950976"/>
                  </a:cubicBezTo>
                  <a:close/>
                </a:path>
              </a:pathLst>
            </a:custGeom>
            <a:solidFill>
              <a:srgbClr val="2A2723"/>
            </a:solidFill>
            <a:ln w="14299" cap="sq">
              <a:solidFill>
                <a:srgbClr val="2A2723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381792" y="8842686"/>
            <a:ext cx="15506681" cy="31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宏观史料告诉我们社会发生了什么变化；口述访谈让我们理解这些变化如何被普通人感知、使用和记住。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1547" y="401879"/>
            <a:ext cx="6103877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29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PART 04 · AI漫剧创作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91547" y="811435"/>
            <a:ext cx="1667345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故事设定：让一辆自行车穿过三代人的生活（陈建国-陈卫-陈星）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2723" y="1686858"/>
            <a:ext cx="16536181" cy="54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以陈建国家庭为叙事主线，把宏观时代变化落在购车、成家、成长与出行选择上。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89003" y="2353847"/>
            <a:ext cx="1002621" cy="76067"/>
            <a:chOff x="0" y="0"/>
            <a:chExt cx="1336827" cy="1014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6802" cy="101473"/>
            </a:xfrm>
            <a:custGeom>
              <a:avLst/>
              <a:gdLst/>
              <a:ahLst/>
              <a:cxnLst/>
              <a:rect r="r" b="b" t="t" l="l"/>
              <a:pathLst>
                <a:path h="101473" w="1336802">
                  <a:moveTo>
                    <a:pt x="0" y="0"/>
                  </a:moveTo>
                  <a:lnTo>
                    <a:pt x="1336802" y="0"/>
                  </a:lnTo>
                  <a:lnTo>
                    <a:pt x="1336802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9D2B22"/>
            </a:solidFill>
            <a:ln w="14299" cap="sq">
              <a:solidFill>
                <a:srgbClr val="9D2B22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845955" y="2353847"/>
            <a:ext cx="15594130" cy="30766"/>
            <a:chOff x="0" y="0"/>
            <a:chExt cx="20792173" cy="410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92187" cy="41021"/>
            </a:xfrm>
            <a:custGeom>
              <a:avLst/>
              <a:gdLst/>
              <a:ahLst/>
              <a:cxnLst/>
              <a:rect r="r" b="b" t="t" l="l"/>
              <a:pathLst>
                <a:path h="41021" w="20792187">
                  <a:moveTo>
                    <a:pt x="0" y="0"/>
                  </a:moveTo>
                  <a:lnTo>
                    <a:pt x="20792187" y="0"/>
                  </a:lnTo>
                  <a:lnTo>
                    <a:pt x="20792187" y="41021"/>
                  </a:lnTo>
                  <a:lnTo>
                    <a:pt x="0" y="41021"/>
                  </a:lnTo>
                  <a:close/>
                </a:path>
              </a:pathLst>
            </a:custGeom>
            <a:solidFill>
              <a:srgbClr val="DED3C2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6989076" y="401879"/>
            <a:ext cx="503368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b="true" sz="1501" spc="29">
                <a:solidFill>
                  <a:srgbClr val="685E52"/>
                </a:solidFill>
                <a:latin typeface="Arimo Bold"/>
                <a:ea typeface="Arimo Bold"/>
                <a:cs typeface="Arimo Bold"/>
                <a:sym typeface="Arimo Bold"/>
              </a:rPr>
              <a:t>09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753167" y="3239505"/>
            <a:ext cx="5506133" cy="4118019"/>
            <a:chOff x="0" y="0"/>
            <a:chExt cx="7341511" cy="5490693"/>
          </a:xfrm>
        </p:grpSpPr>
        <p:sp>
          <p:nvSpPr>
            <p:cNvPr name="Freeform 11" id="11" descr="8-1.png"/>
            <p:cNvSpPr/>
            <p:nvPr/>
          </p:nvSpPr>
          <p:spPr>
            <a:xfrm flipH="false" flipV="false" rot="0">
              <a:off x="0" y="0"/>
              <a:ext cx="7341549" cy="5490718"/>
            </a:xfrm>
            <a:custGeom>
              <a:avLst/>
              <a:gdLst/>
              <a:ahLst/>
              <a:cxnLst/>
              <a:rect r="r" b="b" t="t" l="l"/>
              <a:pathLst>
                <a:path h="5490718" w="7341549">
                  <a:moveTo>
                    <a:pt x="0" y="0"/>
                  </a:moveTo>
                  <a:lnTo>
                    <a:pt x="7341549" y="0"/>
                  </a:lnTo>
                  <a:lnTo>
                    <a:pt x="7341549" y="5490718"/>
                  </a:lnTo>
                  <a:lnTo>
                    <a:pt x="0" y="5490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444" t="0" r="-16444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89003" y="2841215"/>
            <a:ext cx="2591957" cy="50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8"/>
              </a:lnSpc>
            </a:pPr>
            <a:r>
              <a:rPr lang="en-US" sz="2932" b="true">
                <a:solidFill>
                  <a:srgbClr val="9D2B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叙事结构-倒叙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9284" y="3726731"/>
            <a:ext cx="614523" cy="43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b="true" sz="2748" spc="54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7176" y="3645594"/>
            <a:ext cx="3429849" cy="50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8"/>
              </a:lnSpc>
            </a:pPr>
            <a:r>
              <a:rPr lang="en-US" sz="2931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序幕｜当下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45282" y="3702153"/>
            <a:ext cx="6027330" cy="31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832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孙辈扫码骑共享单车，爷爷想起年轻时骑二八大杠接亲。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2723" y="5011532"/>
            <a:ext cx="614523" cy="43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b="true" sz="2748" spc="54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0615" y="4930395"/>
            <a:ext cx="3429849" cy="50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8"/>
              </a:lnSpc>
            </a:pPr>
            <a:r>
              <a:rPr lang="en-US" sz="2931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第一幕｜1980年前后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45282" y="4766416"/>
            <a:ext cx="6027330" cy="87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832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陈建国靠自行车票买到凤凰二八，骑车接亲李秀兰。“三转一响”和自行车票，讲的是计划经济年代自行车作为“结婚必备”的家庭分量。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9003" y="6435952"/>
            <a:ext cx="614523" cy="43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b="true" sz="2748" spc="54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26895" y="6354803"/>
            <a:ext cx="3429849" cy="50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8"/>
              </a:lnSpc>
            </a:pPr>
            <a:r>
              <a:rPr lang="en-US" sz="2931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第二幕｜1998年前后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45282" y="6291392"/>
            <a:ext cx="6027330" cy="87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832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年陈卫骑车上高中，羡慕同学的</a:t>
            </a:r>
            <a:r>
              <a:rPr lang="en-US" sz="1832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变速车。自行车从“家庭大件”变成“少年梦想”，讲的是90年代物质丰富和消费选择变多。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9003" y="7716772"/>
            <a:ext cx="614523" cy="43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b="true" sz="2748" spc="54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26895" y="7635622"/>
            <a:ext cx="3429849" cy="50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8"/>
              </a:lnSpc>
            </a:pPr>
            <a:r>
              <a:rPr lang="en-US" sz="2931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第三幕｜2011年前后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45282" y="7542656"/>
            <a:ext cx="6027330" cy="87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832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陈卫加入骑行队，遇到沈知夏，从“骑车上学”变成“骑车健身、社交、恋爱”。自行车不再是刚需，而是一种生活方式和文化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753167" y="7827209"/>
            <a:ext cx="5487593" cy="1888294"/>
            <a:chOff x="0" y="0"/>
            <a:chExt cx="7316791" cy="25177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6715" cy="2517646"/>
            </a:xfrm>
            <a:custGeom>
              <a:avLst/>
              <a:gdLst/>
              <a:ahLst/>
              <a:cxnLst/>
              <a:rect r="r" b="b" t="t" l="l"/>
              <a:pathLst>
                <a:path h="2517646" w="7316715">
                  <a:moveTo>
                    <a:pt x="0" y="302080"/>
                  </a:moveTo>
                  <a:cubicBezTo>
                    <a:pt x="0" y="135307"/>
                    <a:pt x="82222" y="0"/>
                    <a:pt x="183566" y="0"/>
                  </a:cubicBezTo>
                  <a:lnTo>
                    <a:pt x="7133149" y="0"/>
                  </a:lnTo>
                  <a:cubicBezTo>
                    <a:pt x="7234588" y="0"/>
                    <a:pt x="7316715" y="135307"/>
                    <a:pt x="7316715" y="302080"/>
                  </a:cubicBezTo>
                  <a:lnTo>
                    <a:pt x="7316715" y="2215567"/>
                  </a:lnTo>
                  <a:cubicBezTo>
                    <a:pt x="7316715" y="2382497"/>
                    <a:pt x="7234492" y="2517646"/>
                    <a:pt x="7133149" y="2517646"/>
                  </a:cubicBezTo>
                  <a:lnTo>
                    <a:pt x="183566" y="2517646"/>
                  </a:lnTo>
                  <a:cubicBezTo>
                    <a:pt x="82126" y="2517646"/>
                    <a:pt x="0" y="2382340"/>
                    <a:pt x="0" y="221556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049511" y="8224242"/>
            <a:ext cx="171131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9D2B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创作核心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06314" y="8729067"/>
            <a:ext cx="479983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用车轮转动做年代转场，让同一件物品连接家庭记忆与社会变化。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9003" y="8845192"/>
            <a:ext cx="614523" cy="43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b="true" sz="2748" spc="54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26895" y="8764042"/>
            <a:ext cx="3429849" cy="50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8"/>
              </a:lnSpc>
            </a:pPr>
            <a:r>
              <a:rPr lang="en-US" sz="2931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第四幕｜回到2026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45282" y="8733256"/>
            <a:ext cx="6027330" cy="87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832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陈卫开新能源车下班，路边遇到父亲陈建国带着儿子陈星骑车买菜回家。陈星喊“妈”，沈知夏探头说“好呀，我们一起回家”。三代车轮同框，完成代际循环。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1547" y="2152259"/>
            <a:ext cx="1002621" cy="76067"/>
            <a:chOff x="0" y="0"/>
            <a:chExt cx="1336827" cy="101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802" cy="101473"/>
            </a:xfrm>
            <a:custGeom>
              <a:avLst/>
              <a:gdLst/>
              <a:ahLst/>
              <a:cxnLst/>
              <a:rect r="r" b="b" t="t" l="l"/>
              <a:pathLst>
                <a:path h="101473" w="1336802">
                  <a:moveTo>
                    <a:pt x="0" y="0"/>
                  </a:moveTo>
                  <a:lnTo>
                    <a:pt x="1336802" y="0"/>
                  </a:lnTo>
                  <a:lnTo>
                    <a:pt x="1336802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9D2B22"/>
            </a:solidFill>
            <a:ln w="14299" cap="sq">
              <a:solidFill>
                <a:srgbClr val="9D2B2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48498" y="2152259"/>
            <a:ext cx="15594130" cy="30766"/>
            <a:chOff x="0" y="0"/>
            <a:chExt cx="20792173" cy="410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92187" cy="41021"/>
            </a:xfrm>
            <a:custGeom>
              <a:avLst/>
              <a:gdLst/>
              <a:ahLst/>
              <a:cxnLst/>
              <a:rect r="r" b="b" t="t" l="l"/>
              <a:pathLst>
                <a:path h="41021" w="20792187">
                  <a:moveTo>
                    <a:pt x="0" y="0"/>
                  </a:moveTo>
                  <a:lnTo>
                    <a:pt x="20792187" y="0"/>
                  </a:lnTo>
                  <a:lnTo>
                    <a:pt x="20792187" y="41021"/>
                  </a:lnTo>
                  <a:lnTo>
                    <a:pt x="0" y="41021"/>
                  </a:lnTo>
                  <a:close/>
                </a:path>
              </a:pathLst>
            </a:custGeom>
            <a:solidFill>
              <a:srgbClr val="DED3C2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1498390" y="4025732"/>
            <a:ext cx="503368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29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2723" y="9859585"/>
            <a:ext cx="11594563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媒介史课程 · 课程项目汇报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1547" y="401879"/>
            <a:ext cx="6103877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29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PART 04 · AI漫剧创作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989076" y="401879"/>
            <a:ext cx="503368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b="true" sz="1501" spc="29">
                <a:solidFill>
                  <a:srgbClr val="685E52"/>
                </a:solidFill>
                <a:latin typeface="Arimo Bold"/>
                <a:ea typeface="Arimo Bold"/>
                <a:cs typeface="Arimo Bold"/>
                <a:sym typeface="Arimo Bold"/>
              </a:rPr>
              <a:t>10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9003" y="2353847"/>
            <a:ext cx="1002621" cy="76067"/>
            <a:chOff x="0" y="0"/>
            <a:chExt cx="1336827" cy="101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802" cy="101473"/>
            </a:xfrm>
            <a:custGeom>
              <a:avLst/>
              <a:gdLst/>
              <a:ahLst/>
              <a:cxnLst/>
              <a:rect r="r" b="b" t="t" l="l"/>
              <a:pathLst>
                <a:path h="101473" w="1336802">
                  <a:moveTo>
                    <a:pt x="0" y="0"/>
                  </a:moveTo>
                  <a:lnTo>
                    <a:pt x="1336802" y="0"/>
                  </a:lnTo>
                  <a:lnTo>
                    <a:pt x="1336802" y="101473"/>
                  </a:lnTo>
                  <a:lnTo>
                    <a:pt x="0" y="101473"/>
                  </a:lnTo>
                  <a:close/>
                </a:path>
              </a:pathLst>
            </a:custGeom>
            <a:solidFill>
              <a:srgbClr val="9D2B22"/>
            </a:solidFill>
            <a:ln w="14299" cap="sq">
              <a:solidFill>
                <a:srgbClr val="9D2B2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45955" y="2353847"/>
            <a:ext cx="15594130" cy="30766"/>
            <a:chOff x="0" y="0"/>
            <a:chExt cx="20792173" cy="410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92187" cy="41021"/>
            </a:xfrm>
            <a:custGeom>
              <a:avLst/>
              <a:gdLst/>
              <a:ahLst/>
              <a:cxnLst/>
              <a:rect r="r" b="b" t="t" l="l"/>
              <a:pathLst>
                <a:path h="41021" w="20792187">
                  <a:moveTo>
                    <a:pt x="0" y="0"/>
                  </a:moveTo>
                  <a:lnTo>
                    <a:pt x="20792187" y="0"/>
                  </a:lnTo>
                  <a:lnTo>
                    <a:pt x="20792187" y="41021"/>
                  </a:lnTo>
                  <a:lnTo>
                    <a:pt x="0" y="41021"/>
                  </a:lnTo>
                  <a:close/>
                </a:path>
              </a:pathLst>
            </a:custGeom>
            <a:solidFill>
              <a:srgbClr val="DED3C2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714685" y="6518067"/>
            <a:ext cx="8409988" cy="2254219"/>
            <a:chOff x="0" y="0"/>
            <a:chExt cx="10176840" cy="27278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76764" cy="2727706"/>
            </a:xfrm>
            <a:custGeom>
              <a:avLst/>
              <a:gdLst/>
              <a:ahLst/>
              <a:cxnLst/>
              <a:rect r="r" b="b" t="t" l="l"/>
              <a:pathLst>
                <a:path h="2727706" w="10176764">
                  <a:moveTo>
                    <a:pt x="0" y="327279"/>
                  </a:moveTo>
                  <a:cubicBezTo>
                    <a:pt x="0" y="146558"/>
                    <a:pt x="146558" y="0"/>
                    <a:pt x="327279" y="0"/>
                  </a:cubicBezTo>
                  <a:lnTo>
                    <a:pt x="9849485" y="0"/>
                  </a:lnTo>
                  <a:cubicBezTo>
                    <a:pt x="10030206" y="0"/>
                    <a:pt x="10176764" y="146558"/>
                    <a:pt x="10176764" y="327279"/>
                  </a:cubicBezTo>
                  <a:lnTo>
                    <a:pt x="10176764" y="2400427"/>
                  </a:lnTo>
                  <a:cubicBezTo>
                    <a:pt x="10176764" y="2581148"/>
                    <a:pt x="10030206" y="2727706"/>
                    <a:pt x="9849485" y="2727706"/>
                  </a:cubicBezTo>
                  <a:lnTo>
                    <a:pt x="327279" y="2727706"/>
                  </a:lnTo>
                  <a:cubicBezTo>
                    <a:pt x="146558" y="2727833"/>
                    <a:pt x="0" y="2581275"/>
                    <a:pt x="0" y="240042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ED3C2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2553738"/>
            <a:ext cx="6423707" cy="3211853"/>
          </a:xfrm>
          <a:custGeom>
            <a:avLst/>
            <a:gdLst/>
            <a:ahLst/>
            <a:cxnLst/>
            <a:rect r="r" b="b" t="t" l="l"/>
            <a:pathLst>
              <a:path h="3211853" w="6423707">
                <a:moveTo>
                  <a:pt x="0" y="0"/>
                </a:moveTo>
                <a:lnTo>
                  <a:pt x="6423707" y="0"/>
                </a:lnTo>
                <a:lnTo>
                  <a:pt x="6423707" y="3211854"/>
                </a:lnTo>
                <a:lnTo>
                  <a:pt x="0" y="3211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5937042"/>
            <a:ext cx="6423707" cy="3123653"/>
          </a:xfrm>
          <a:custGeom>
            <a:avLst/>
            <a:gdLst/>
            <a:ahLst/>
            <a:cxnLst/>
            <a:rect r="r" b="b" t="t" l="l"/>
            <a:pathLst>
              <a:path h="3123653" w="6423707">
                <a:moveTo>
                  <a:pt x="0" y="0"/>
                </a:moveTo>
                <a:lnTo>
                  <a:pt x="6423707" y="0"/>
                </a:lnTo>
                <a:lnTo>
                  <a:pt x="6423707" y="3123653"/>
                </a:lnTo>
                <a:lnTo>
                  <a:pt x="0" y="31236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11" r="0" b="-141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2553738"/>
            <a:ext cx="6457159" cy="3228579"/>
          </a:xfrm>
          <a:custGeom>
            <a:avLst/>
            <a:gdLst/>
            <a:ahLst/>
            <a:cxnLst/>
            <a:rect r="r" b="b" t="t" l="l"/>
            <a:pathLst>
              <a:path h="3228579" w="6457159">
                <a:moveTo>
                  <a:pt x="0" y="0"/>
                </a:moveTo>
                <a:lnTo>
                  <a:pt x="6457159" y="0"/>
                </a:lnTo>
                <a:lnTo>
                  <a:pt x="6457159" y="3228580"/>
                </a:lnTo>
                <a:lnTo>
                  <a:pt x="0" y="3228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91547" y="401879"/>
            <a:ext cx="6103877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29">
                <a:solidFill>
                  <a:srgbClr val="9D2B22"/>
                </a:solidFill>
                <a:latin typeface="Arimo Bold"/>
                <a:ea typeface="Arimo Bold"/>
                <a:cs typeface="Arimo Bold"/>
                <a:sym typeface="Arimo Bold"/>
              </a:rPr>
              <a:t>PART 04 · AI漫剧创作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1547" y="811435"/>
            <a:ext cx="16673455" cy="758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2A272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角色设定与分镜：让人物跨年代保持连续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2723" y="1686858"/>
            <a:ext cx="16536181" cy="54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85E52"/>
                </a:solidFill>
                <a:latin typeface="Calibri (MS)"/>
                <a:ea typeface="Calibri (MS)"/>
                <a:cs typeface="Calibri (MS)"/>
                <a:sym typeface="Calibri (MS)"/>
              </a:rPr>
              <a:t>三视图负责锁定外形，分镜负责组织动作；同一人物的年龄、服装与生活空间随年代变化。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89076" y="401879"/>
            <a:ext cx="503368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b="true" sz="1501" spc="29">
                <a:solidFill>
                  <a:srgbClr val="685E52"/>
                </a:solidFill>
                <a:latin typeface="Arimo Bold"/>
                <a:ea typeface="Arimo Bold"/>
                <a:cs typeface="Arimo Bold"/>
                <a:sym typeface="Arimo Bold"/>
              </a:rPr>
              <a:t>11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11676" y="6854614"/>
            <a:ext cx="222210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9D2B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分镜控制的重点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11676" y="7489343"/>
            <a:ext cx="672157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39">
                <a:solidFill>
                  <a:srgbClr val="2A2723"/>
                </a:solidFill>
                <a:latin typeface="Arimo"/>
                <a:ea typeface="Arimo"/>
                <a:cs typeface="Arimo"/>
                <a:sym typeface="Arimo"/>
              </a:rPr>
              <a:t>• 先锁定人物外形与年代服装</a:t>
            </a:r>
          </a:p>
          <a:p>
            <a:pPr algn="l">
              <a:lnSpc>
                <a:spcPts val="2400"/>
              </a:lnSpc>
            </a:pPr>
            <a:r>
              <a:rPr lang="en-US" sz="2000" spc="39">
                <a:solidFill>
                  <a:srgbClr val="2A2723"/>
                </a:solidFill>
                <a:latin typeface="Arimo"/>
                <a:ea typeface="Arimo"/>
                <a:cs typeface="Arimo"/>
                <a:sym typeface="Arimo"/>
              </a:rPr>
              <a:t>• 再确认自行车结构、道具与场景</a:t>
            </a:r>
          </a:p>
          <a:p>
            <a:pPr algn="l">
              <a:lnSpc>
                <a:spcPts val="2400"/>
              </a:lnSpc>
            </a:pPr>
            <a:r>
              <a:rPr lang="en-US" sz="2000" spc="39">
                <a:solidFill>
                  <a:srgbClr val="2A2723"/>
                </a:solidFill>
                <a:latin typeface="Arimo"/>
                <a:ea typeface="Arimo"/>
                <a:cs typeface="Arimo"/>
                <a:sym typeface="Arimo"/>
              </a:rPr>
              <a:t>• 通过景别、动作和车轮转场保持叙事连贯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4517" y="9346445"/>
            <a:ext cx="1612438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685E5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制作难点：AI画面需要反复校正人物一致性、车型结构、广告文字与年代物件；生成结果不能自动视为史料。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83245" y="0"/>
            <a:ext cx="8418595" cy="10295039"/>
            <a:chOff x="0" y="0"/>
            <a:chExt cx="11224793" cy="13726719"/>
          </a:xfrm>
        </p:grpSpPr>
        <p:sp>
          <p:nvSpPr>
            <p:cNvPr name="Freeform 3" id="3" descr="8-1.png"/>
            <p:cNvSpPr/>
            <p:nvPr/>
          </p:nvSpPr>
          <p:spPr>
            <a:xfrm flipH="false" flipV="false" rot="0">
              <a:off x="0" y="0"/>
              <a:ext cx="1122476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1224768">
                  <a:moveTo>
                    <a:pt x="0" y="0"/>
                  </a:moveTo>
                  <a:lnTo>
                    <a:pt x="11224768" y="0"/>
                  </a:lnTo>
                  <a:lnTo>
                    <a:pt x="1122476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8643" t="0" r="-5864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10240708" cy="10309346"/>
            <a:chOff x="0" y="0"/>
            <a:chExt cx="13654278" cy="1374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65427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13654278">
                  <a:moveTo>
                    <a:pt x="0" y="0"/>
                  </a:moveTo>
                  <a:lnTo>
                    <a:pt x="13654278" y="0"/>
                  </a:lnTo>
                  <a:lnTo>
                    <a:pt x="1365427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2A2723"/>
            </a:solidFill>
            <a:ln w="14299" cap="sq">
              <a:solidFill>
                <a:srgbClr val="2A2723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24900" y="977275"/>
            <a:ext cx="1299524" cy="45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E1B17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结语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4900" y="1794434"/>
            <a:ext cx="8162887" cy="20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一辆自行车，</a:t>
            </a:r>
          </a:p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不只是交通工具。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2356" y="4385405"/>
            <a:ext cx="1139885" cy="82934"/>
            <a:chOff x="0" y="0"/>
            <a:chExt cx="1519847" cy="1105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19809" cy="110617"/>
            </a:xfrm>
            <a:custGeom>
              <a:avLst/>
              <a:gdLst/>
              <a:ahLst/>
              <a:cxnLst/>
              <a:rect r="r" b="b" t="t" l="l"/>
              <a:pathLst>
                <a:path h="110617" w="1519809">
                  <a:moveTo>
                    <a:pt x="0" y="0"/>
                  </a:moveTo>
                  <a:lnTo>
                    <a:pt x="1519809" y="0"/>
                  </a:lnTo>
                  <a:lnTo>
                    <a:pt x="1519809" y="110617"/>
                  </a:lnTo>
                  <a:lnTo>
                    <a:pt x="0" y="110617"/>
                  </a:lnTo>
                  <a:close/>
                </a:path>
              </a:pathLst>
            </a:custGeom>
            <a:solidFill>
              <a:srgbClr val="BE4835"/>
            </a:solidFill>
            <a:ln w="14299" cap="sq">
              <a:solidFill>
                <a:srgbClr val="BE4835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066076" y="4999206"/>
            <a:ext cx="7956985" cy="223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E6DDCF"/>
                </a:solidFill>
                <a:latin typeface="Calibri (MS)"/>
                <a:ea typeface="Calibri (MS)"/>
                <a:cs typeface="Calibri (MS)"/>
                <a:sym typeface="Calibri (MS)"/>
              </a:rPr>
              <a:t>它曾是家庭积蓄与成家愿望，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E6DDCF"/>
                </a:solidFill>
                <a:latin typeface="Calibri (MS)"/>
                <a:ea typeface="Calibri (MS)"/>
                <a:cs typeface="Calibri (MS)"/>
                <a:sym typeface="Calibri (MS)"/>
              </a:rPr>
              <a:t>后来成为速度、审美与个性的表达，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E6DDCF"/>
                </a:solidFill>
                <a:latin typeface="Calibri (MS)"/>
                <a:ea typeface="Calibri (MS)"/>
                <a:cs typeface="Calibri (MS)"/>
                <a:sym typeface="Calibri (MS)"/>
              </a:rPr>
              <a:t>今天又同时承载共享服务、平台劳动与专业骑行。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076" y="7803661"/>
            <a:ext cx="8094250" cy="108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E1B17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从史料到访谈，再到AI漫剧，</a:t>
            </a:r>
          </a:p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E1B17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我们尝试让时代变化重新进入具体的人与生活。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6076" y="9350578"/>
            <a:ext cx="2672191" cy="413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感谢聆听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00252" y="9442466"/>
            <a:ext cx="6927475" cy="30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《单车转三代，一轮转光阴》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DAHY_asW7Q4</dc:identifier>
  <dcterms:modified xsi:type="dcterms:W3CDTF">2011-08-01T06:04:30Z</dcterms:modified>
  <cp:revision>1</cp:revision>
  <dc:title>单车转三代一轮转光阴_课程项目汇报_12页.pptx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AIGC">
    <vt:lpwstr>{"Label":"1","ContentProducer":"001191110105MA01AN806X00000","ProduceID":"DAHY_asW7Q4","ReservedCode1":"","ContentPropagator":"001191110105MA01AN806X00000","PropagateID":"DAHY_asW7Q4","ReservedCode2":""}</vt:lpwstr>
  </property>
</Properties>
</file>