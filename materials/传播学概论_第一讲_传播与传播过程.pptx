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59447cfb9647d5" /><Relationship Type="http://schemas.openxmlformats.org/officeDocument/2006/relationships/extended-properties" Target="/docProps/app.xml" Id="R615357a5ad04433e" /><Relationship Type="http://schemas.openxmlformats.org/officeDocument/2006/relationships/officeDocument" Target="/ppt/presentation.xml" Id="R54e75ec2c5fd4b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3c490932b948d7"/>
  </p:sldMasterIdLst>
  <p:notesMasterIdLst>
    <p:notesMasterId xmlns:r="http://schemas.openxmlformats.org/officeDocument/2006/relationships" r:id="R124da046536c42a7"/>
  </p:notesMasterIdLst>
  <p:sldIdLst>
    <p:sldId xmlns:r="http://schemas.openxmlformats.org/officeDocument/2006/relationships" id="256" r:id="R5a46a0de327d4970"/>
    <p:sldId xmlns:r="http://schemas.openxmlformats.org/officeDocument/2006/relationships" id="257" r:id="R57067e80fdb048c7"/>
    <p:sldId xmlns:r="http://schemas.openxmlformats.org/officeDocument/2006/relationships" id="258" r:id="R418b789357b740c6"/>
    <p:sldId xmlns:r="http://schemas.openxmlformats.org/officeDocument/2006/relationships" id="259" r:id="R8e9de3eb140a4b33"/>
    <p:sldId xmlns:r="http://schemas.openxmlformats.org/officeDocument/2006/relationships" id="260" r:id="R3359773a85ce405d"/>
    <p:sldId xmlns:r="http://schemas.openxmlformats.org/officeDocument/2006/relationships" id="261" r:id="R77024415170944b7"/>
    <p:sldId xmlns:r="http://schemas.openxmlformats.org/officeDocument/2006/relationships" id="262" r:id="Rae57780d67734138"/>
    <p:sldId xmlns:r="http://schemas.openxmlformats.org/officeDocument/2006/relationships" id="263" r:id="R690a1d6d04504b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65f3b22e244cc" /><Relationship Type="http://schemas.openxmlformats.org/officeDocument/2006/relationships/slideMaster" Target="/ppt/slideMasters/slideMaster1.xml" Id="R443c490932b948d7" /><Relationship Type="http://schemas.openxmlformats.org/officeDocument/2006/relationships/notesMaster" Target="/ppt/notesMasters/notesMaster1.xml" Id="R124da046536c42a7" /><Relationship Type="http://schemas.openxmlformats.org/officeDocument/2006/relationships/presProps" Target="/ppt/presProps.xml" Id="Rf2fd8b6ef17f48a8" /><Relationship Type="http://schemas.openxmlformats.org/officeDocument/2006/relationships/tableStyles" Target="/ppt/tableStyles.xml" Id="R6089301d6eea4a00" /><Relationship Type="http://schemas.openxmlformats.org/officeDocument/2006/relationships/slide" Target="/ppt/slides/slide1.xml" Id="R5a46a0de327d4970" /><Relationship Type="http://schemas.openxmlformats.org/officeDocument/2006/relationships/slide" Target="/ppt/slides/slide2.xml" Id="R57067e80fdb048c7" /><Relationship Type="http://schemas.openxmlformats.org/officeDocument/2006/relationships/slide" Target="/ppt/slides/slide3.xml" Id="R418b789357b740c6" /><Relationship Type="http://schemas.openxmlformats.org/officeDocument/2006/relationships/slide" Target="/ppt/slides/slide4.xml" Id="R8e9de3eb140a4b33" /><Relationship Type="http://schemas.openxmlformats.org/officeDocument/2006/relationships/slide" Target="/ppt/slides/slide5.xml" Id="R3359773a85ce405d" /><Relationship Type="http://schemas.openxmlformats.org/officeDocument/2006/relationships/slide" Target="/ppt/slides/slide6.xml" Id="R77024415170944b7" /><Relationship Type="http://schemas.openxmlformats.org/officeDocument/2006/relationships/slide" Target="/ppt/slides/slide7.xml" Id="Rae57780d67734138" /><Relationship Type="http://schemas.openxmlformats.org/officeDocument/2006/relationships/slide" Target="/ppt/slides/slide8.xml" Id="R690a1d6d04504b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00dc3e34b947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a52f1b5695438b" /><Relationship Type="http://schemas.openxmlformats.org/officeDocument/2006/relationships/notesMaster" Target="/ppt/notesMasters/notesMaster1.xml" Id="Rf1c6a051446e4a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0c0887ded84250" /><Relationship Type="http://schemas.openxmlformats.org/officeDocument/2006/relationships/notesMaster" Target="/ppt/notesMasters/notesMaster1.xml" Id="R364b164b66b14b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4f45349b68487e" /><Relationship Type="http://schemas.openxmlformats.org/officeDocument/2006/relationships/notesMaster" Target="/ppt/notesMasters/notesMaster1.xml" Id="R1c2eac41c82343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083c7dbc224c37" /><Relationship Type="http://schemas.openxmlformats.org/officeDocument/2006/relationships/notesMaster" Target="/ppt/notesMasters/notesMaster1.xml" Id="R9725eb70543b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60ef6325394e46" /><Relationship Type="http://schemas.openxmlformats.org/officeDocument/2006/relationships/notesMaster" Target="/ppt/notesMasters/notesMaster1.xml" Id="Rf5e1dde09d694a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f5432db8cc457a" /><Relationship Type="http://schemas.openxmlformats.org/officeDocument/2006/relationships/notesMaster" Target="/ppt/notesMasters/notesMaster1.xml" Id="R79849d3ab65a4b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ab02829d534f1c" /><Relationship Type="http://schemas.openxmlformats.org/officeDocument/2006/relationships/notesMaster" Target="/ppt/notesMasters/notesMaster1.xml" Id="R9fd4e4939ed542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cf75146d734fda" /><Relationship Type="http://schemas.openxmlformats.org/officeDocument/2006/relationships/notesMaster" Target="/ppt/notesMasters/notesMaster1.xml" Id="R923d20d306c54d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教学目标：理解传播是一个发生在具体情境中的意义建构过程，并能使用基本模型分析生活案例。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参考来源：https://openstax.org/details/books/introduction-communication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说明：本页将传输模型简化为教学版，强调渠道与噪音。参考：https://openstax.org/books/introduction-communication/pages/1-2-the-communication-process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经典表述：Who says what in which channel to whom with what effect。教学中可用于快速分析传播事件。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0618ac3704f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3bc3cd95d4e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b84fdad5347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53fbd59a94f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18ca7c40a49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ba522a03f47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6F46AF-A2CA-43FD-922F-617F07A33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DD511B-33A1-4863-AAE9-3731464030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F198AF-88B5-4C9A-9A5A-05A15E99F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92D010-D026-40BD-804E-0FAC857BAC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61A978-DD5B-410B-A9E1-952938AF25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0FFBBD-F822-4133-AD14-2C474DCA2A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57F6F2-C70A-4EFC-8E18-EDD3A82832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9476C8-2065-45F8-AB72-2878D322D5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4B1D3B-4E50-4641-BD7B-AE6074A4DA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C87D74-8A83-40E4-92F9-2A89CB7D12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ae8bc161da4762" /><Relationship Type="http://schemas.openxmlformats.org/officeDocument/2006/relationships/slideLayout" Target="/ppt/slideLayouts/slideLayout1.xml" Id="R6cef679adc1741f2" /><Relationship Type="http://schemas.openxmlformats.org/officeDocument/2006/relationships/slideLayout" Target="/ppt/slideLayouts/slideLayout2.xml" Id="R2e71e30e262c40ae" /><Relationship Type="http://schemas.openxmlformats.org/officeDocument/2006/relationships/slideLayout" Target="/ppt/slideLayouts/slideLayout3.xml" Id="Rbbb3cfe7f6c24a90" /><Relationship Type="http://schemas.openxmlformats.org/officeDocument/2006/relationships/slideLayout" Target="/ppt/slideLayouts/slideLayout4.xml" Id="R78711fa71441464c" /><Relationship Type="http://schemas.openxmlformats.org/officeDocument/2006/relationships/slideLayout" Target="/ppt/slideLayouts/slideLayout5.xml" Id="R8411e757dc3447aa" /><Relationship Type="http://schemas.openxmlformats.org/officeDocument/2006/relationships/slideLayout" Target="/ppt/slideLayouts/slideLayout6.xml" Id="R85b5004adcd040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ef679adc1741f2"/>
    <p:sldLayoutId xmlns:r="http://schemas.openxmlformats.org/officeDocument/2006/relationships" id="2147483650" r:id="R2e71e30e262c40ae"/>
    <p:sldLayoutId xmlns:r="http://schemas.openxmlformats.org/officeDocument/2006/relationships" id="2147483651" r:id="Rbbb3cfe7f6c24a90"/>
    <p:sldLayoutId xmlns:r="http://schemas.openxmlformats.org/officeDocument/2006/relationships" id="2147483652" r:id="R78711fa71441464c"/>
    <p:sldLayoutId xmlns:r="http://schemas.openxmlformats.org/officeDocument/2006/relationships" id="2147483653" r:id="R8411e757dc3447aa"/>
    <p:sldLayoutId xmlns:r="http://schemas.openxmlformats.org/officeDocument/2006/relationships" id="2147483654" r:id="R85b5004adcd040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5d82b65ed49f8" /><Relationship Type="http://schemas.openxmlformats.org/officeDocument/2006/relationships/notesSlide" Target="/ppt/notesSlides/notesSlide1.xml" Id="R7ca71792f84043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833d928bf405e" /><Relationship Type="http://schemas.openxmlformats.org/officeDocument/2006/relationships/notesSlide" Target="/ppt/notesSlides/notesSlide2.xml" Id="R4d777371822a4c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98818102f4afa" /><Relationship Type="http://schemas.openxmlformats.org/officeDocument/2006/relationships/notesSlide" Target="/ppt/notesSlides/notesSlide3.xml" Id="R380011d93e8e45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3d2cbe41a4050" /><Relationship Type="http://schemas.openxmlformats.org/officeDocument/2006/relationships/notesSlide" Target="/ppt/notesSlides/notesSlide4.xml" Id="Rf9124696b6f447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ee6af33cb49eb" /><Relationship Type="http://schemas.openxmlformats.org/officeDocument/2006/relationships/notesSlide" Target="/ppt/notesSlides/notesSlide5.xml" Id="Rf4d92d04211846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1d25ab942942b7" /><Relationship Type="http://schemas.openxmlformats.org/officeDocument/2006/relationships/notesSlide" Target="/ppt/notesSlides/notesSlide6.xml" Id="R5da54da7a9a84e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2f1b2d376496f" /><Relationship Type="http://schemas.openxmlformats.org/officeDocument/2006/relationships/notesSlide" Target="/ppt/notesSlides/notesSlide7.xml" Id="R8c26551027b845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c68ecb5f464f76" /><Relationship Type="http://schemas.openxmlformats.org/officeDocument/2006/relationships/notesSlide" Target="/ppt/notesSlides/notesSlide8.xml" Id="R6fe2141d64d848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7CF7C-5CB5-4351-B4EA-F95C9EB9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2985A-0DA6-4D26-9F0B-C46011A9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rPr>
              <a:t>传播学概论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EE023-1011-450D-A7C8-B459E26B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9055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传播与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传播过程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4DA09-D9DF-4829-820A-8E3A451A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rPr>
              <a:t>第一讲  从生活经验进入传播模型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7170E-A95E-4E0E-87D0-2E29CB40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192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61EDA-2DDF-4D26-A156-D080F94C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906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2D58D-8402-4C75-984E-69B67838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3835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6D455-F8E7-4355-9B72-7CE16BD3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527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0BC57-D58C-4FF2-933C-564FAAE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14097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9A0E9-2863-43A2-80A8-A3C0451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861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媒介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6D96B-4ABF-4436-99EF-63784DB2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1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F2D49-83C1-4EB7-A657-9BBBF030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0057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反馈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51554-4BC5-4A65-BADF-3B1704EF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816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37C70-11C6-4583-B490-011877E0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67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情境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FD1D8-3295-4982-9E29-7B7DF790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rPr>
              <a:t>传播学概论 · 第一讲</a:t>
            </a:r>
          </a:p>
        </p:txBody>
      </p:sp>
    </p:spTree>
    <p:extLst>
      <p:ext uri="{BB962C8B-B14F-4D97-AF65-F5344CB8AC3E}">
        <p14:creationId xmlns:p14="http://schemas.microsoft.com/office/powerpoint/2010/main" val="625046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760DA-23B5-407C-A3CF-F46BC1E4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61055-F2F0-4ACF-A837-6013A7BC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一条校园通知如何变成不同版本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9C269-964F-4FA7-BC8F-4F17617E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学校发布“明早八点停水”。不到十分钟，群聊里出现四种说法。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45FCB-BD09-4ADA-8C51-5F202ADB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157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7226F-8A19-4CE8-AFB8-4D44879E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官方通知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CB0E7-3703-4FB0-9110-2F6565C6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019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明早 8:00 至 10:00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教学区临时停水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E31EE-FD77-4D71-B6F4-FAF9A3F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9050">
            <a:solidFill>
              <a:srgbClr val="2386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CFB13-A651-4E0B-9347-6B16E7B4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rPr>
              <a:t>班群转述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74E16-C52D-483C-B470-A06E83D2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81400"/>
            <a:ext cx="2019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明天上午都停水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A83E1-5F45-4160-BEA7-99B9CD4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2E3"/>
          </a:solidFill>
          <a:ln xmlns:a="http://schemas.openxmlformats.org/drawingml/2006/main" w="19050">
            <a:solidFill>
              <a:srgbClr val="E54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A64E4-9C40-478E-BF16-C91CD994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rPr>
              <a:t>朋友圈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39A48-B761-46A5-A2A5-383D6F5C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019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学校又出故障了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7CB43-73E4-439B-AE11-6A4C478E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C"/>
          </a:solidFill>
          <a:ln xmlns:a="http://schemas.openxmlformats.org/drawingml/2006/main" w="19050">
            <a:solidFill>
              <a:srgbClr val="9A67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6C264-0596-481A-9225-628BF54E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86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rPr>
              <a:t>同学理解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7192B-70FF-4D5B-B6AC-1AE6DFA9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81400"/>
            <a:ext cx="2019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第一节课可能取消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F2154-26FE-44D7-A877-9D19F1BD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课堂问题：信息为什么会发生变化？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690F5-8555-48A6-B965-7F062E3D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从发送者、媒介、噪音、受众和反馈五个角度作答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5D2FF-306B-4357-BE2C-8E28FB95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rPr>
              <a:t>案例为教学情境模拟</a:t>
            </a:r>
          </a:p>
        </p:txBody>
      </p:sp>
    </p:spTree>
    <p:extLst>
      <p:ext uri="{BB962C8B-B14F-4D97-AF65-F5344CB8AC3E}">
        <p14:creationId xmlns:p14="http://schemas.microsoft.com/office/powerpoint/2010/main" val="3039603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7CD57-4127-4BFF-A95B-A5DD496C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FC81F-56BF-4B65-8A0B-E5D2F8FB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传播的核心是共同建构意义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DD5C5-2167-4E18-83D2-5643C0DF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传播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25883-0838-4930-A9FA-BB57DBC5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人们在一定情境中使用符号，通过媒介与他人交换信息、理解与关系。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55FFD-0675-4D33-9D51-806FE670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CB6C1-77AD-4C4F-B036-D57F09E6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38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符号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F8377-94DE-421F-9AFC-B2CAEFE6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语言、图像、声音和动作都可以承载意义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5901D-B047-4FEA-837B-F39F41D6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B7E4B-424F-4B32-930E-BA21A4BC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95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F90FC-0D15-46C3-951A-DD01ED7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337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身份、关系和场景会改变同一句话的解释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ED4E8-61B4-483C-A542-FF2BD605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1F958-1652-4818-B8ED-532B47C2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52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互动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DA047-0526-4B12-B216-5DED07F7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910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反馈让传播不断调整，而不是一次性传递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8A535-D0F2-48C2-9712-59973654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rPr>
              <a:t>参考：OpenStax, Introduction to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215445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FC84F-05CC-4566-9175-E7FDE630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75C2E-29D2-40C1-BD01-05B9CB98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线性模型说明信息如何通过渠道传递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FAC48-A67E-4F4B-9785-39FD0FB0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4D86C-FA87-47A2-9642-DD46CDCE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发送者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24EAB-1421-4E3C-8E94-3918430B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产生并编码信息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7F692-F109-4D6F-8385-F29B03FB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86050"/>
            <a:ext cx="1000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ED468-879A-417C-9AF9-861651B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797AE-7ABF-4C77-A953-25526A4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098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84500-5402-4942-A483-022F3D7C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051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被组织的符号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3AB9C-A1A6-403E-AE77-07F4AABB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86050"/>
            <a:ext cx="1000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26BE5-8FF2-4597-8D18-353D549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9525">
            <a:solidFill>
              <a:srgbClr val="2386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2FBFF-CD8E-4AAD-B0BB-54F6271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098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渠道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758C6-284A-4E0F-B26B-2D87126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面对面、广播、平台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048B4-A42A-4257-9886-B53FD7F9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86050"/>
            <a:ext cx="1000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4BCE6-CD45-4672-B04E-A9C99ED9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DD7EF-1543-4D13-BCEF-C4E41F2F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98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接收者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702E8-7861-444C-848B-D8EFC831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051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接收并解码信息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E0665-68A4-454E-9C70-A19AEBF2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714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2E3"/>
          </a:solidFill>
          <a:ln xmlns:a="http://schemas.openxmlformats.org/drawingml/2006/main" w="19050">
            <a:solidFill>
              <a:srgbClr val="E548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A7C01-E574-4479-9785-5592646D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481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>
            <a:def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rPr>
              <a:t>噪音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D71DE-237F-42B1-B103-2EF20D6A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>
            <a:def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技术故障、环境干扰、语言歧义、注意力竞争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C19BD-D6CF-445E-A225-E9BE414E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局限：线性模型容易把受众看成被动终点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80B7E0-AF23-4DB2-B2B5-0A944BA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rPr>
              <a:t>概念来源：Shannon and Weaver 的传输模型传统</a:t>
            </a:r>
          </a:p>
        </p:txBody>
      </p:sp>
    </p:spTree>
    <p:extLst>
      <p:ext uri="{BB962C8B-B14F-4D97-AF65-F5344CB8AC3E}">
        <p14:creationId xmlns:p14="http://schemas.microsoft.com/office/powerpoint/2010/main" val="1158484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E6A3F-6EA8-4198-8D5B-9F645525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6BCA1-4DBC-47CF-A9F9-A387359C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拉斯韦尔的五个问题适合快速拆解传播事件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6F5C8-3DF5-4DFE-8521-3219F6DE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AF2D6-8146-429E-9977-083EDD1C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A23A3-959E-41D6-83EB-3ED5D5AC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E8B03-DD15-40EC-9069-A8B8C483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rPr>
              <a:t>传播者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14A47-E64F-4926-8807-B8CF73CF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1EE64-D8CB-4E32-BF44-503AA251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28669-4506-4C4B-841B-C41FB889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说什么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79CC0-961A-4FA3-AD2D-973F1C18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rPr>
              <a:t>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3AD90-FF1B-473C-9C50-CB6FE60E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57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34388-11C4-47C3-89B6-F9933F78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6F261-322F-4B0F-82A3-898E05A5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7813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通过什么渠道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B09AD-764D-46A9-8BA1-A7267577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243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rPr>
              <a:t>媒介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06849-F57D-4EFA-9C39-972B9303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57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C82A4-E4F1-4B70-A029-C8A3F39D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27F4B-946C-4389-A4D1-6A17080B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7813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对谁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376EF-C638-4515-B754-CADA7F9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243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rPr>
              <a:t>受众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45BCC-89EB-40FD-BC7C-5E28E80D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57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966A9-F325-4313-A108-7E366D17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B7969-F750-4D34-B971-2F59379D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813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产生什么效果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7573B-93E0-4269-8631-6BBC7A0E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243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rPr>
              <a:t>效果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1EC08-6D9A-487C-99D8-11ED63F0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适用：新闻分析、广告策划、公共传播评估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895DF-0D34-4CC0-82F6-579ACFB4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DB7D7"/>
                </a:solidFill>
                <a:latin typeface="Hiragino Sans GB"/>
                <a:ea typeface="Hiragino Sans GB"/>
                <a:cs typeface="Hiragino Sans GB"/>
              </a:rPr>
              <a:t>Harold D. Lasswell, 1948</a:t>
            </a:r>
          </a:p>
        </p:txBody>
      </p:sp>
    </p:spTree>
    <p:extLst>
      <p:ext uri="{BB962C8B-B14F-4D97-AF65-F5344CB8AC3E}">
        <p14:creationId xmlns:p14="http://schemas.microsoft.com/office/powerpoint/2010/main" val="1776644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63CD4-9C2F-4146-94A1-A9125E0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C49E2-CEE2-4296-AA3D-C5093FC8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传播模型从传递走向共同参与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1D454-E7EE-454A-B512-951993D8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31432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1570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FCA69-7CA1-4C06-A7C0-1F1AA1D0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线性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82898-1762-4931-8389-39EA7EA4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单向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32673-ACF2-4E82-A5C6-D438D2E0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适合解释大众传播的发送过程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272CF-B398-4250-9BF3-E8D2AB9A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例：广播通知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8CE18-52B8-4C4C-9E39-867CB9F7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1432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9050">
            <a:solidFill>
              <a:srgbClr val="2386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422E5-DF76-4983-BEE7-C0DF8DC3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rPr>
              <a:t>互动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C41BB-0466-4E6F-96B7-125A99CF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轮流反馈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FCFC7-B7E8-4731-9326-E36A1F22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适合解释问答与回应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AE080-73A6-4195-9E73-B837A1D4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91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rPr>
              <a:t>例：客服对话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F8FCC-F791-44CC-B66F-10B6983F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52600"/>
            <a:ext cx="31432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2E3"/>
          </a:solidFill>
          <a:ln xmlns:a="http://schemas.openxmlformats.org/drawingml/2006/main" w="19050">
            <a:solidFill>
              <a:srgbClr val="E548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018B0-C323-4B16-8339-7303373C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rPr>
              <a:t>交易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98E11-BCED-400E-9674-AAB24AE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同步建构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53ACB-29E4-4B95-B4D1-7D87A21A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337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适合解释关系、身份和情境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AE702-22B8-47B7-A192-590C005C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91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rPr>
              <a:t>例：小组讨论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E7AE1-FA52-4A11-AAFD-57883ECD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选择模型取决于问题，而不是寻找唯一正确模型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98F11-2C2D-434E-A2EC-3CC39B2A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rPr>
              <a:t>模型是分析工具，不是现实的完整复制</a:t>
            </a:r>
          </a:p>
        </p:txBody>
      </p:sp>
    </p:spTree>
    <p:extLst>
      <p:ext uri="{BB962C8B-B14F-4D97-AF65-F5344CB8AC3E}">
        <p14:creationId xmlns:p14="http://schemas.microsoft.com/office/powerpoint/2010/main" val="1015977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934E9-5151-4887-B1AE-58C1000B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C6456-0BA8-42DD-96A7-BF5A808F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用传播过程分析校园停水通知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7D349-34D4-4495-94E8-AF008B42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78DE2-0174-4CE1-B91D-429EE31D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明早 8:00 至 10:00，教学区临时停水，请提前做好用水安排。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52131-AC21-4C0A-BEFF-2EA2BFF2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传播者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218EF-9A89-44B2-B434-FAE5D9B6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4307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44D89-981F-4BC8-94A9-8F16457A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14500"/>
            <a:ext cx="802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学校后勤部门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B82E0-1357-4447-8C0B-84EF9301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F56D9"/>
                </a:solidFill>
                <a:latin typeface="Hiragino Sans GB"/>
                <a:ea typeface="Hiragino Sans GB"/>
                <a:cs typeface="Hiragino Sans GB"/>
              </a:rPr>
              <a:t>渠道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A2E2F-AEE8-4A7F-A2A7-A29FD20E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8127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12F50-3986-4111-9E41-3F9A3ABE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52700"/>
            <a:ext cx="802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公众号、班群、口头转述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07AB2-8CCE-4469-ACB3-32526A71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38636"/>
                </a:solidFill>
                <a:latin typeface="Hiragino Sans GB"/>
                <a:ea typeface="Hiragino Sans GB"/>
                <a:cs typeface="Hiragino Sans GB"/>
              </a:rPr>
              <a:t>受众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B2D6D-D3C8-40AD-B9F0-41E34F45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1947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200CE-0315-4C02-A30B-DFC79D8A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90900"/>
            <a:ext cx="802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教师、学生、商户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5D77E-A7C9-4729-A560-C9CA4E38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E5484D"/>
                </a:solidFill>
                <a:latin typeface="Hiragino Sans GB"/>
                <a:ea typeface="Hiragino Sans GB"/>
                <a:cs typeface="Hiragino Sans GB"/>
              </a:rPr>
              <a:t>噪音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27FFA-B254-472D-8894-CEF4661D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5767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38096-1E6B-4CF8-B8FB-C93C894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29100"/>
            <a:ext cx="802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截屏缺少时间、转述省略范围、旧消息混入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51E17-9D50-4675-988B-FC89E7E1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9A6700"/>
                </a:solidFill>
                <a:latin typeface="Hiragino Sans GB"/>
                <a:ea typeface="Hiragino Sans GB"/>
                <a:cs typeface="Hiragino Sans GB"/>
              </a:rPr>
              <a:t>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44F1D-61C8-4D12-AB0D-9C62025A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587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9C90A-A2E2-44D7-BE49-C651EF8D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67300"/>
            <a:ext cx="802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提前储水，也可能出现误解与过度反应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0AB6A-EE5D-46D8-AC9A-E7C3C359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rPr>
              <a:t>课堂练习：补充反馈渠道，并改写通知以减少误解</a:t>
            </a:r>
          </a:p>
        </p:txBody>
      </p:sp>
    </p:spTree>
    <p:extLst>
      <p:ext uri="{BB962C8B-B14F-4D97-AF65-F5344CB8AC3E}">
        <p14:creationId xmlns:p14="http://schemas.microsoft.com/office/powerpoint/2010/main" val="1179429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0214E-5655-41A9-8651-0A83EB12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F8F43-FB5D-4B30-AE6C-F37EB3D1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课堂练习与课后作业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C34BD-D6E1-49D0-9BA8-B3E6B7C5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570EF"/>
                </a:solidFill>
                <a:latin typeface="Hiragino Sans GB"/>
                <a:ea typeface="Hiragino Sans GB"/>
                <a:cs typeface="Hiragino Sans GB"/>
              </a:rPr>
              <a:t>课堂练习  15 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F263B-1401-4867-923A-544C7225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11827"/>
                </a:solidFill>
                <a:latin typeface="Hiragino Sans GB"/>
                <a:ea typeface="Hiragino Sans GB"/>
                <a:cs typeface="Hiragino Sans GB"/>
              </a:rPr>
              <a:t>四人一组，选择一条校园传播事件，用五问模型拆解。标出一种噪音和一种反馈。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C328C-982A-42F0-8591-A4745754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每组用 90 秒汇报：事件、分析、改进建议。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78FA1-9D2E-4BEF-9E99-E183E740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067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D1EBA-9C89-4C18-965F-A53B8ECA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6C344"/>
                </a:solidFill>
                <a:latin typeface="Hiragino Sans GB"/>
                <a:ea typeface="Hiragino Sans GB"/>
                <a:cs typeface="Hiragino Sans GB"/>
              </a:rPr>
              <a:t>课后作业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8056F-CA11-4440-8AA4-5327D5FB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传播事件分析报告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6CCD1-2C0E-416E-809D-09063383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4286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rPr>
              <a:t>选择一条真实传播事件，完成 800 至 1200 字分析。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D0D5DD"/>
                </a:solidFill>
                <a:latin typeface="Hiragino Sans GB"/>
                <a:ea typeface="Hiragino Sans GB"/>
                <a:cs typeface="Hiragino Sans GB"/>
              </a:rPr>
              <a:t>说明模型选择和证据，并分析噪音、反馈及改进建议。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960D6-0B4E-44A1-B0B2-2127AB2C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提交：PDF 或 DOCX  |  满分 100 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38551-C56C-4386-B380-D2B41805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8A2B3"/>
                </a:solidFill>
                <a:latin typeface="Hiragino Sans GB"/>
                <a:ea typeface="Hiragino Sans GB"/>
                <a:cs typeface="Hiragino Sans GB"/>
              </a:rPr>
              <a:t>详细要求与评分标准见课程作业页面</a:t>
            </a:r>
          </a:p>
        </p:txBody>
      </p:sp>
    </p:spTree>
    <p:extLst>
      <p:ext uri="{BB962C8B-B14F-4D97-AF65-F5344CB8AC3E}">
        <p14:creationId xmlns:p14="http://schemas.microsoft.com/office/powerpoint/2010/main" val="2091961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2026-10-22T14:25:28.9110000Z</dcterms:created>
  <dcterms:modified xsi:type="dcterms:W3CDTF">2026-10-22T14:25:28.9110000Z</dcterms:modified>
</coreProperties>
</file>